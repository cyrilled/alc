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0080625" cy="7559675"/>
  <p:notesSz cx="7559675" cy="10691813"/>
  <p:defaultTextStyle>
    <a:defPPr>
      <a:defRPr lang="en-GB"/>
    </a:defPPr>
    <a:lvl1pPr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1pPr>
    <a:lvl2pPr marL="742950" indent="-28575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2pPr>
    <a:lvl3pPr marL="11430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3pPr>
    <a:lvl4pPr marL="16002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4pPr>
    <a:lvl5pPr marL="20574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/>
    <p:restoredTop sz="94407"/>
  </p:normalViewPr>
  <p:slideViewPr>
    <p:cSldViewPr>
      <p:cViewPr varScale="1">
        <p:scale>
          <a:sx n="108" d="100"/>
          <a:sy n="108" d="100"/>
        </p:scale>
        <p:origin x="2296" y="192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3525" cy="400685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sp>
      <p:sp>
        <p:nvSpPr>
          <p:cNvPr id="2050" name="Rectangle 2"/>
          <p:cNvSpPr>
            <a:spLocks noGrp="1" noChangeArrowheads="1"/>
          </p:cNvSpPr>
          <p:nvPr>
            <p:ph type="body"/>
          </p:nvPr>
        </p:nvSpPr>
        <p:spPr bwMode="auto">
          <a:xfrm>
            <a:off x="755650" y="5078413"/>
            <a:ext cx="6046788" cy="481012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fr-FR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dt"/>
          </p:nvPr>
        </p:nvSpPr>
        <p:spPr bwMode="auto">
          <a:xfrm>
            <a:off x="4278313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ftr"/>
          </p:nvPr>
        </p:nvSpPr>
        <p:spPr bwMode="auto">
          <a:xfrm>
            <a:off x="0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sldNum"/>
          </p:nvPr>
        </p:nvSpPr>
        <p:spPr bwMode="auto">
          <a:xfrm>
            <a:off x="4278313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fld id="{1F3DD76E-5EE5-B14B-918E-C841A9A0DDB8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286679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6D7AE1D-581C-5744-BBDC-022E0845ADC1}" type="slidenum">
              <a:rPr lang="fr-FR"/>
              <a:pPr/>
              <a:t>1</a:t>
            </a:fld>
            <a:endParaRPr lang="fr-FR"/>
          </a:p>
        </p:txBody>
      </p:sp>
      <p:sp>
        <p:nvSpPr>
          <p:cNvPr id="614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614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FFF93F67-2F61-8F43-A7D0-7A4E81C76EF8}" type="slidenum">
              <a:rPr lang="fr-FR"/>
              <a:pPr/>
              <a:t>2</a:t>
            </a:fld>
            <a:endParaRPr lang="fr-FR"/>
          </a:p>
        </p:txBody>
      </p:sp>
      <p:sp>
        <p:nvSpPr>
          <p:cNvPr id="7169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7170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CB683908-E5AA-6A49-B381-D7DBC3AB899F}" type="slidenum">
              <a:rPr lang="fr-FR"/>
              <a:pPr/>
              <a:t>3</a:t>
            </a:fld>
            <a:endParaRPr lang="fr-FR"/>
          </a:p>
        </p:txBody>
      </p:sp>
      <p:sp>
        <p:nvSpPr>
          <p:cNvPr id="8193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8194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55650" y="2347913"/>
            <a:ext cx="8569325" cy="1620837"/>
          </a:xfrm>
        </p:spPr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12888" y="4283075"/>
            <a:ext cx="7056437" cy="193198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F825243E-C849-BD4A-ABA8-B583F2C00A2C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918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C5EE1A5-F6F7-7D48-8FE7-30CC8A9F1068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1528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96925" y="4857750"/>
            <a:ext cx="8567738" cy="15017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96925" y="3203575"/>
            <a:ext cx="8567738" cy="165417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9F7D419C-8613-604F-B9AB-4EC7D2DEBB9D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952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7700" cy="43830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13338" y="1768475"/>
            <a:ext cx="4459287" cy="43830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22672B69-9559-934B-B3BA-1D475C011B40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972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4825" y="303213"/>
            <a:ext cx="9072563" cy="1258887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04825" y="1692275"/>
            <a:ext cx="4452938" cy="7048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04825" y="2397125"/>
            <a:ext cx="4452938" cy="43561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121275" y="1692275"/>
            <a:ext cx="4456113" cy="7048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121275" y="2397125"/>
            <a:ext cx="4456113" cy="43561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00C7CA2-2D53-0945-A93E-3DD4517AF5FE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7277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CC7300D1-FD28-B34D-BF47-197FBF1C7589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7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6174C1F0-928D-7948-BC3A-DE0DBBEBB221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585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4825" y="301625"/>
            <a:ext cx="3316288" cy="127952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941763" y="301625"/>
            <a:ext cx="5635625" cy="64516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04825" y="1581150"/>
            <a:ext cx="3316288" cy="51720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D5AEB4D-4273-8147-8D11-F048701C30F0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1198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76438" y="5291138"/>
            <a:ext cx="6048375" cy="6254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pour une image  2"/>
          <p:cNvSpPr>
            <a:spLocks noGrp="1"/>
          </p:cNvSpPr>
          <p:nvPr>
            <p:ph type="pic" idx="1"/>
          </p:nvPr>
        </p:nvSpPr>
        <p:spPr>
          <a:xfrm>
            <a:off x="1976438" y="674688"/>
            <a:ext cx="6048375" cy="4537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Faire glisser l'image vers l'espace réservé ou cliquer sur l'icône pour l'ajouter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76438" y="5916613"/>
            <a:ext cx="6048375" cy="887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FF461557-08DD-144C-8362-37452B3FE8EB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378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F9DE9A9-CAAB-7C43-81D7-621A96C1265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287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305675" y="301625"/>
            <a:ext cx="2266950" cy="5849938"/>
          </a:xfrm>
        </p:spPr>
        <p:txBody>
          <a:bodyPr vert="eaVert"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0037" cy="58499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D5A228AE-D82D-734D-B613-1ECB7A953A9B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613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3238" y="301625"/>
            <a:ext cx="9069387" cy="1260475"/>
          </a:xfrm>
        </p:spPr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0"/>
          </p:nvPr>
        </p:nvSpPr>
        <p:spPr>
          <a:xfrm>
            <a:off x="50323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idx="11"/>
          </p:nvPr>
        </p:nvSpPr>
        <p:spPr>
          <a:xfrm>
            <a:off x="3448050" y="6886575"/>
            <a:ext cx="3194050" cy="519113"/>
          </a:xfr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idx="12"/>
          </p:nvPr>
        </p:nvSpPr>
        <p:spPr>
          <a:xfrm>
            <a:off x="722788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fld id="{49CDBF49-8006-B945-89C7-041D6B8D1974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1344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503238" y="301625"/>
            <a:ext cx="9069387" cy="126047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Cliquez pour éditer le format du texte-titre</a:t>
            </a:r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3238" y="1768475"/>
            <a:ext cx="9069387" cy="438308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28224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Cliquez pour éditer le format du plan de texte</a:t>
            </a:r>
          </a:p>
          <a:p>
            <a:pPr lvl="1"/>
            <a:r>
              <a:rPr lang="en-GB"/>
              <a:t>Second niveau de plan</a:t>
            </a:r>
          </a:p>
          <a:p>
            <a:pPr lvl="2"/>
            <a:r>
              <a:rPr lang="en-GB"/>
              <a:t>Troisième niveau de plan</a:t>
            </a:r>
          </a:p>
          <a:p>
            <a:pPr lvl="3"/>
            <a:r>
              <a:rPr lang="en-GB"/>
              <a:t>Quatrième niveau de plan</a:t>
            </a:r>
          </a:p>
          <a:p>
            <a:pPr lvl="4"/>
            <a:r>
              <a:rPr lang="en-GB"/>
              <a:t>Cinquième niveau de plan</a:t>
            </a:r>
          </a:p>
          <a:p>
            <a:pPr lvl="4"/>
            <a:r>
              <a:rPr lang="en-GB"/>
              <a:t>Sixième niveau de plan</a:t>
            </a:r>
          </a:p>
          <a:p>
            <a:pPr lvl="4"/>
            <a:r>
              <a:rPr lang="en-GB"/>
              <a:t>Septième niveau de plan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50323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/>
          </p:nvPr>
        </p:nvSpPr>
        <p:spPr bwMode="auto">
          <a:xfrm>
            <a:off x="3448050" y="6886575"/>
            <a:ext cx="3194050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722788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fld id="{30EC8730-DEC3-C64D-9566-F7C738AAF5B3}" type="slidenum">
              <a:rPr lang="fr-FR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marL="742950" indent="-28575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2pPr>
      <a:lvl3pPr marL="11430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3pPr>
      <a:lvl4pPr marL="16002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4pPr>
      <a:lvl5pPr marL="20574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5pPr>
      <a:lvl6pPr marL="25146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6pPr>
      <a:lvl7pPr marL="29718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7pPr>
      <a:lvl8pPr marL="34290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8pPr>
      <a:lvl9pPr marL="38862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9pPr>
    </p:titleStyle>
    <p:bodyStyle>
      <a:lvl1pPr marL="342900" indent="-342900" algn="l" defTabSz="449263" rtl="0" eaLnBrk="1" fontAlgn="base" hangingPunct="1">
        <a:lnSpc>
          <a:spcPct val="93000"/>
        </a:lnSpc>
        <a:spcBef>
          <a:spcPct val="0"/>
        </a:spcBef>
        <a:spcAft>
          <a:spcPts val="1413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1" fontAlgn="base" hangingPunct="1">
        <a:lnSpc>
          <a:spcPct val="93000"/>
        </a:lnSpc>
        <a:spcBef>
          <a:spcPct val="0"/>
        </a:spcBef>
        <a:spcAft>
          <a:spcPts val="1138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85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575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AutoShape 1"/>
          <p:cNvSpPr>
            <a:spLocks noChangeArrowheads="1"/>
          </p:cNvSpPr>
          <p:nvPr/>
        </p:nvSpPr>
        <p:spPr bwMode="auto">
          <a:xfrm>
            <a:off x="1495425" y="582613"/>
            <a:ext cx="2603500" cy="3948112"/>
          </a:xfrm>
          <a:prstGeom prst="roundRect">
            <a:avLst>
              <a:gd name="adj" fmla="val 60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4" name="AutoShape 2"/>
          <p:cNvSpPr>
            <a:spLocks noChangeArrowheads="1"/>
          </p:cNvSpPr>
          <p:nvPr/>
        </p:nvSpPr>
        <p:spPr bwMode="auto">
          <a:xfrm>
            <a:off x="4765675" y="1757363"/>
            <a:ext cx="3100388" cy="2773362"/>
          </a:xfrm>
          <a:prstGeom prst="roundRect">
            <a:avLst>
              <a:gd name="adj" fmla="val 56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5" name="AutoShape 3"/>
          <p:cNvSpPr>
            <a:spLocks noChangeArrowheads="1"/>
          </p:cNvSpPr>
          <p:nvPr/>
        </p:nvSpPr>
        <p:spPr bwMode="auto">
          <a:xfrm>
            <a:off x="4098925" y="1757363"/>
            <a:ext cx="666750" cy="2773362"/>
          </a:xfrm>
          <a:prstGeom prst="roundRect">
            <a:avLst>
              <a:gd name="adj" fmla="val 23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6" name="AutoShape 4"/>
          <p:cNvSpPr>
            <a:spLocks noChangeArrowheads="1"/>
          </p:cNvSpPr>
          <p:nvPr/>
        </p:nvSpPr>
        <p:spPr bwMode="auto">
          <a:xfrm>
            <a:off x="4098925" y="2719388"/>
            <a:ext cx="666750" cy="782637"/>
          </a:xfrm>
          <a:prstGeom prst="roundRect">
            <a:avLst>
              <a:gd name="adj" fmla="val 23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7" name="Oval 5"/>
          <p:cNvSpPr>
            <a:spLocks noChangeArrowheads="1"/>
          </p:cNvSpPr>
          <p:nvPr/>
        </p:nvSpPr>
        <p:spPr bwMode="auto">
          <a:xfrm>
            <a:off x="2027238" y="1014413"/>
            <a:ext cx="1816100" cy="2773362"/>
          </a:xfrm>
          <a:prstGeom prst="ellipse">
            <a:avLst/>
          </a:prstGeom>
          <a:solidFill>
            <a:srgbClr val="CFE7F5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9" name="AutoShape 7"/>
          <p:cNvSpPr>
            <a:spLocks noChangeArrowheads="1"/>
          </p:cNvSpPr>
          <p:nvPr/>
        </p:nvSpPr>
        <p:spPr bwMode="auto">
          <a:xfrm>
            <a:off x="5770563" y="2413000"/>
            <a:ext cx="381000" cy="941388"/>
          </a:xfrm>
          <a:prstGeom prst="roundRect">
            <a:avLst>
              <a:gd name="adj" fmla="val 417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0" name="AutoShape 8"/>
          <p:cNvSpPr>
            <a:spLocks noChangeArrowheads="1"/>
          </p:cNvSpPr>
          <p:nvPr/>
        </p:nvSpPr>
        <p:spPr bwMode="auto">
          <a:xfrm>
            <a:off x="7472363" y="2466975"/>
            <a:ext cx="381000" cy="1154113"/>
          </a:xfrm>
          <a:prstGeom prst="roundRect">
            <a:avLst>
              <a:gd name="adj" fmla="val 417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1" name="AutoShape 9"/>
          <p:cNvSpPr>
            <a:spLocks noChangeArrowheads="1"/>
          </p:cNvSpPr>
          <p:nvPr/>
        </p:nvSpPr>
        <p:spPr bwMode="auto">
          <a:xfrm>
            <a:off x="6445250" y="3916363"/>
            <a:ext cx="1403350" cy="41275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2" name="AutoShape 10"/>
          <p:cNvSpPr>
            <a:spLocks noChangeArrowheads="1"/>
          </p:cNvSpPr>
          <p:nvPr/>
        </p:nvSpPr>
        <p:spPr bwMode="auto">
          <a:xfrm>
            <a:off x="5891213" y="1905000"/>
            <a:ext cx="1217612" cy="325438"/>
          </a:xfrm>
          <a:prstGeom prst="roundRect">
            <a:avLst>
              <a:gd name="adj" fmla="val 48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3" name="AutoShape 11"/>
          <p:cNvSpPr>
            <a:spLocks noChangeArrowheads="1"/>
          </p:cNvSpPr>
          <p:nvPr/>
        </p:nvSpPr>
        <p:spPr bwMode="auto">
          <a:xfrm>
            <a:off x="6478588" y="2738438"/>
            <a:ext cx="434975" cy="889000"/>
          </a:xfrm>
          <a:prstGeom prst="roundRect">
            <a:avLst>
              <a:gd name="adj" fmla="val 361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4" name="AutoShape 12"/>
          <p:cNvSpPr>
            <a:spLocks noChangeArrowheads="1"/>
          </p:cNvSpPr>
          <p:nvPr/>
        </p:nvSpPr>
        <p:spPr bwMode="auto">
          <a:xfrm>
            <a:off x="3449638" y="2043113"/>
            <a:ext cx="1812925" cy="338137"/>
          </a:xfrm>
          <a:prstGeom prst="roundRect">
            <a:avLst>
              <a:gd name="adj" fmla="val 468"/>
            </a:avLst>
          </a:prstGeom>
          <a:solidFill>
            <a:srgbClr val="CCCCCC"/>
          </a:solidFill>
          <a:ln w="36000" cap="flat">
            <a:solidFill>
              <a:srgbClr val="808080"/>
            </a:solidFill>
            <a:prstDash val="sysDot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5" name="AutoShape 13"/>
          <p:cNvSpPr>
            <a:spLocks noChangeArrowheads="1"/>
          </p:cNvSpPr>
          <p:nvPr/>
        </p:nvSpPr>
        <p:spPr bwMode="auto">
          <a:xfrm>
            <a:off x="1409700" y="221932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6" name="AutoShape 14"/>
          <p:cNvSpPr>
            <a:spLocks noChangeArrowheads="1"/>
          </p:cNvSpPr>
          <p:nvPr/>
        </p:nvSpPr>
        <p:spPr bwMode="auto">
          <a:xfrm>
            <a:off x="2722563" y="44640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8" name="AutoShape 16"/>
          <p:cNvSpPr>
            <a:spLocks noChangeArrowheads="1"/>
          </p:cNvSpPr>
          <p:nvPr/>
        </p:nvSpPr>
        <p:spPr bwMode="auto">
          <a:xfrm>
            <a:off x="1416050" y="279717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92" name="Line 20"/>
          <p:cNvSpPr>
            <a:spLocks noChangeShapeType="1"/>
          </p:cNvSpPr>
          <p:nvPr/>
        </p:nvSpPr>
        <p:spPr bwMode="auto">
          <a:xfrm>
            <a:off x="2392363" y="1228725"/>
            <a:ext cx="358775" cy="31750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3" name="Line 21"/>
          <p:cNvSpPr>
            <a:spLocks noChangeShapeType="1"/>
          </p:cNvSpPr>
          <p:nvPr/>
        </p:nvSpPr>
        <p:spPr bwMode="auto">
          <a:xfrm flipH="1">
            <a:off x="3121025" y="1281113"/>
            <a:ext cx="288925" cy="296862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4" name="Line 22"/>
          <p:cNvSpPr>
            <a:spLocks noChangeShapeType="1"/>
          </p:cNvSpPr>
          <p:nvPr/>
        </p:nvSpPr>
        <p:spPr bwMode="auto">
          <a:xfrm flipH="1">
            <a:off x="2889250" y="3311525"/>
            <a:ext cx="14288" cy="474663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5" name="Line 23"/>
          <p:cNvSpPr>
            <a:spLocks noChangeShapeType="1"/>
          </p:cNvSpPr>
          <p:nvPr/>
        </p:nvSpPr>
        <p:spPr bwMode="auto">
          <a:xfrm>
            <a:off x="2447925" y="582613"/>
            <a:ext cx="1588" cy="641350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7" name="Line 25"/>
          <p:cNvSpPr>
            <a:spLocks noChangeShapeType="1"/>
          </p:cNvSpPr>
          <p:nvPr/>
        </p:nvSpPr>
        <p:spPr bwMode="auto">
          <a:xfrm>
            <a:off x="3484563" y="3503613"/>
            <a:ext cx="889000" cy="1587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0" name="AutoShape 28"/>
          <p:cNvSpPr>
            <a:spLocks noChangeArrowheads="1"/>
          </p:cNvSpPr>
          <p:nvPr/>
        </p:nvSpPr>
        <p:spPr bwMode="auto">
          <a:xfrm>
            <a:off x="3316288" y="35512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01" name="AutoShape 29"/>
          <p:cNvSpPr>
            <a:spLocks noChangeArrowheads="1"/>
          </p:cNvSpPr>
          <p:nvPr/>
        </p:nvSpPr>
        <p:spPr bwMode="auto">
          <a:xfrm>
            <a:off x="1984375" y="254317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02" name="Line 30"/>
          <p:cNvSpPr>
            <a:spLocks noChangeShapeType="1"/>
          </p:cNvSpPr>
          <p:nvPr/>
        </p:nvSpPr>
        <p:spPr bwMode="auto">
          <a:xfrm>
            <a:off x="2763838" y="1541463"/>
            <a:ext cx="371475" cy="1587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7" name="Line 35"/>
          <p:cNvSpPr>
            <a:spLocks noChangeShapeType="1"/>
          </p:cNvSpPr>
          <p:nvPr/>
        </p:nvSpPr>
        <p:spPr bwMode="auto">
          <a:xfrm>
            <a:off x="4098925" y="1757363"/>
            <a:ext cx="1588" cy="1852612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8" name="Line 36"/>
          <p:cNvSpPr>
            <a:spLocks noChangeShapeType="1"/>
          </p:cNvSpPr>
          <p:nvPr/>
        </p:nvSpPr>
        <p:spPr bwMode="auto">
          <a:xfrm>
            <a:off x="4765675" y="1757363"/>
            <a:ext cx="1588" cy="1830387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9" name="AutoShape 37"/>
          <p:cNvSpPr>
            <a:spLocks noChangeArrowheads="1"/>
          </p:cNvSpPr>
          <p:nvPr/>
        </p:nvSpPr>
        <p:spPr bwMode="auto">
          <a:xfrm>
            <a:off x="4800600" y="2043113"/>
            <a:ext cx="434975" cy="338137"/>
          </a:xfrm>
          <a:prstGeom prst="roundRect">
            <a:avLst>
              <a:gd name="adj" fmla="val 46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5" name="AutoShape 43"/>
          <p:cNvSpPr>
            <a:spLocks noChangeArrowheads="1"/>
          </p:cNvSpPr>
          <p:nvPr/>
        </p:nvSpPr>
        <p:spPr bwMode="auto">
          <a:xfrm>
            <a:off x="7402513" y="29098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6" name="AutoShape 44"/>
          <p:cNvSpPr>
            <a:spLocks noChangeArrowheads="1"/>
          </p:cNvSpPr>
          <p:nvPr/>
        </p:nvSpPr>
        <p:spPr bwMode="auto">
          <a:xfrm>
            <a:off x="1489075" y="4073525"/>
            <a:ext cx="412750" cy="43180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8" name="Text Box 46"/>
          <p:cNvSpPr txBox="1">
            <a:spLocks noChangeArrowheads="1"/>
          </p:cNvSpPr>
          <p:nvPr/>
        </p:nvSpPr>
        <p:spPr bwMode="auto">
          <a:xfrm>
            <a:off x="4429125" y="1204913"/>
            <a:ext cx="11906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Salle de presse</a:t>
            </a:r>
          </a:p>
        </p:txBody>
      </p:sp>
      <p:sp>
        <p:nvSpPr>
          <p:cNvPr id="3119" name="Line 47"/>
          <p:cNvSpPr>
            <a:spLocks noChangeShapeType="1"/>
          </p:cNvSpPr>
          <p:nvPr/>
        </p:nvSpPr>
        <p:spPr bwMode="auto">
          <a:xfrm flipV="1">
            <a:off x="4552950" y="1392238"/>
            <a:ext cx="360363" cy="50323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20" name="Line 48"/>
          <p:cNvSpPr>
            <a:spLocks noChangeShapeType="1"/>
          </p:cNvSpPr>
          <p:nvPr/>
        </p:nvSpPr>
        <p:spPr bwMode="auto">
          <a:xfrm flipV="1">
            <a:off x="4552950" y="1393825"/>
            <a:ext cx="360363" cy="503238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21" name="Text Box 49"/>
          <p:cNvSpPr txBox="1">
            <a:spLocks noChangeArrowheads="1"/>
          </p:cNvSpPr>
          <p:nvPr/>
        </p:nvSpPr>
        <p:spPr bwMode="auto">
          <a:xfrm>
            <a:off x="6465888" y="3913188"/>
            <a:ext cx="13938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Restaurant</a:t>
            </a:r>
          </a:p>
        </p:txBody>
      </p:sp>
      <p:sp>
        <p:nvSpPr>
          <p:cNvPr id="3122" name="Text Box 50"/>
          <p:cNvSpPr txBox="1">
            <a:spLocks noChangeArrowheads="1"/>
          </p:cNvSpPr>
          <p:nvPr/>
        </p:nvSpPr>
        <p:spPr bwMode="auto">
          <a:xfrm rot="16140000">
            <a:off x="5603875" y="2743200"/>
            <a:ext cx="70485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Europa</a:t>
            </a:r>
          </a:p>
        </p:txBody>
      </p:sp>
      <p:sp>
        <p:nvSpPr>
          <p:cNvPr id="3123" name="Text Box 51"/>
          <p:cNvSpPr txBox="1">
            <a:spLocks noChangeArrowheads="1"/>
          </p:cNvSpPr>
          <p:nvPr/>
        </p:nvSpPr>
        <p:spPr bwMode="auto">
          <a:xfrm>
            <a:off x="4896295" y="3635820"/>
            <a:ext cx="1537841" cy="307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Village des athlètes</a:t>
            </a:r>
          </a:p>
        </p:txBody>
      </p:sp>
      <p:sp>
        <p:nvSpPr>
          <p:cNvPr id="3124" name="Text Box 52"/>
          <p:cNvSpPr txBox="1">
            <a:spLocks noChangeArrowheads="1"/>
          </p:cNvSpPr>
          <p:nvPr/>
        </p:nvSpPr>
        <p:spPr bwMode="auto">
          <a:xfrm>
            <a:off x="2386013" y="4067175"/>
            <a:ext cx="9302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Zone stade</a:t>
            </a:r>
          </a:p>
        </p:txBody>
      </p:sp>
      <p:sp>
        <p:nvSpPr>
          <p:cNvPr id="3125" name="Text Box 53"/>
          <p:cNvSpPr txBox="1">
            <a:spLocks noChangeArrowheads="1"/>
          </p:cNvSpPr>
          <p:nvPr/>
        </p:nvSpPr>
        <p:spPr bwMode="auto">
          <a:xfrm>
            <a:off x="4103688" y="3744913"/>
            <a:ext cx="715962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Admin-</a:t>
            </a:r>
          </a:p>
          <a:p>
            <a:r>
              <a:rPr lang="fr-FR" sz="1200"/>
              <a:t>istration</a:t>
            </a:r>
          </a:p>
        </p:txBody>
      </p:sp>
      <p:sp>
        <p:nvSpPr>
          <p:cNvPr id="3126" name="Text Box 54"/>
          <p:cNvSpPr txBox="1">
            <a:spLocks noChangeArrowheads="1"/>
          </p:cNvSpPr>
          <p:nvPr/>
        </p:nvSpPr>
        <p:spPr bwMode="auto">
          <a:xfrm>
            <a:off x="4098925" y="3011488"/>
            <a:ext cx="668338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Salle de</a:t>
            </a:r>
            <a:br>
              <a:rPr lang="fr-FR" sz="1000" dirty="0"/>
            </a:br>
            <a:r>
              <a:rPr lang="fr-FR" sz="1000" dirty="0"/>
              <a:t>contrôle</a:t>
            </a:r>
          </a:p>
        </p:txBody>
      </p:sp>
      <p:sp>
        <p:nvSpPr>
          <p:cNvPr id="3127" name="Text Box 55"/>
          <p:cNvSpPr txBox="1">
            <a:spLocks noChangeArrowheads="1"/>
          </p:cNvSpPr>
          <p:nvPr/>
        </p:nvSpPr>
        <p:spPr bwMode="auto">
          <a:xfrm rot="4020000">
            <a:off x="1823243" y="2875248"/>
            <a:ext cx="1179513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Ouest</a:t>
            </a:r>
          </a:p>
        </p:txBody>
      </p:sp>
      <p:sp>
        <p:nvSpPr>
          <p:cNvPr id="3128" name="Text Box 56"/>
          <p:cNvSpPr txBox="1">
            <a:spLocks noChangeArrowheads="1"/>
          </p:cNvSpPr>
          <p:nvPr/>
        </p:nvSpPr>
        <p:spPr bwMode="auto">
          <a:xfrm rot="18300000">
            <a:off x="2872581" y="3042444"/>
            <a:ext cx="9413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Est</a:t>
            </a:r>
          </a:p>
        </p:txBody>
      </p:sp>
      <p:sp>
        <p:nvSpPr>
          <p:cNvPr id="3129" name="AutoShape 57"/>
          <p:cNvSpPr>
            <a:spLocks noChangeArrowheads="1"/>
          </p:cNvSpPr>
          <p:nvPr/>
        </p:nvSpPr>
        <p:spPr bwMode="auto">
          <a:xfrm>
            <a:off x="1495425" y="576263"/>
            <a:ext cx="928688" cy="41275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36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0" name="AutoShape 58"/>
          <p:cNvSpPr>
            <a:spLocks noChangeArrowheads="1"/>
          </p:cNvSpPr>
          <p:nvPr/>
        </p:nvSpPr>
        <p:spPr bwMode="auto">
          <a:xfrm>
            <a:off x="1751013" y="46831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B2B2B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1" name="Text Box 59"/>
          <p:cNvSpPr txBox="1">
            <a:spLocks noChangeArrowheads="1"/>
          </p:cNvSpPr>
          <p:nvPr/>
        </p:nvSpPr>
        <p:spPr bwMode="auto">
          <a:xfrm>
            <a:off x="1495425" y="557213"/>
            <a:ext cx="928688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Restaurant</a:t>
            </a:r>
          </a:p>
        </p:txBody>
      </p:sp>
      <p:sp>
        <p:nvSpPr>
          <p:cNvPr id="3132" name="Oval 60"/>
          <p:cNvSpPr>
            <a:spLocks noChangeArrowheads="1"/>
          </p:cNvSpPr>
          <p:nvPr/>
        </p:nvSpPr>
        <p:spPr bwMode="auto">
          <a:xfrm>
            <a:off x="1111250" y="255270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3" name="Oval 61"/>
          <p:cNvSpPr>
            <a:spLocks noChangeArrowheads="1"/>
          </p:cNvSpPr>
          <p:nvPr/>
        </p:nvSpPr>
        <p:spPr bwMode="auto">
          <a:xfrm>
            <a:off x="1687513" y="25527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4" name="Oval 62"/>
          <p:cNvSpPr>
            <a:spLocks noChangeArrowheads="1"/>
          </p:cNvSpPr>
          <p:nvPr/>
        </p:nvSpPr>
        <p:spPr bwMode="auto">
          <a:xfrm>
            <a:off x="3452813" y="413702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5" name="Oval 63"/>
          <p:cNvSpPr>
            <a:spLocks noChangeArrowheads="1"/>
          </p:cNvSpPr>
          <p:nvPr/>
        </p:nvSpPr>
        <p:spPr bwMode="auto">
          <a:xfrm>
            <a:off x="1687513" y="25527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6" name="Oval 64"/>
          <p:cNvSpPr>
            <a:spLocks noChangeArrowheads="1"/>
          </p:cNvSpPr>
          <p:nvPr/>
        </p:nvSpPr>
        <p:spPr bwMode="auto">
          <a:xfrm>
            <a:off x="1760538" y="12573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7" name="Oval 65"/>
          <p:cNvSpPr>
            <a:spLocks noChangeArrowheads="1"/>
          </p:cNvSpPr>
          <p:nvPr/>
        </p:nvSpPr>
        <p:spPr bwMode="auto">
          <a:xfrm>
            <a:off x="2660650" y="7175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8" name="Oval 66"/>
          <p:cNvSpPr>
            <a:spLocks noChangeArrowheads="1"/>
          </p:cNvSpPr>
          <p:nvPr/>
        </p:nvSpPr>
        <p:spPr bwMode="auto">
          <a:xfrm>
            <a:off x="7124700" y="24463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9" name="Oval 67"/>
          <p:cNvSpPr>
            <a:spLocks noChangeArrowheads="1"/>
          </p:cNvSpPr>
          <p:nvPr/>
        </p:nvSpPr>
        <p:spPr bwMode="auto">
          <a:xfrm>
            <a:off x="5432425" y="24828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0" name="Oval 68"/>
          <p:cNvSpPr>
            <a:spLocks noChangeArrowheads="1"/>
          </p:cNvSpPr>
          <p:nvPr/>
        </p:nvSpPr>
        <p:spPr bwMode="auto">
          <a:xfrm>
            <a:off x="3165475" y="2157413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1" name="Oval 69"/>
          <p:cNvSpPr>
            <a:spLocks noChangeArrowheads="1"/>
          </p:cNvSpPr>
          <p:nvPr/>
        </p:nvSpPr>
        <p:spPr bwMode="auto">
          <a:xfrm>
            <a:off x="7124700" y="24463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2" name="Oval 70"/>
          <p:cNvSpPr>
            <a:spLocks noChangeArrowheads="1"/>
          </p:cNvSpPr>
          <p:nvPr/>
        </p:nvSpPr>
        <p:spPr bwMode="auto">
          <a:xfrm>
            <a:off x="4352925" y="42100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3" name="Line 71"/>
          <p:cNvSpPr>
            <a:spLocks noChangeShapeType="1"/>
          </p:cNvSpPr>
          <p:nvPr/>
        </p:nvSpPr>
        <p:spPr bwMode="auto">
          <a:xfrm flipV="1">
            <a:off x="4445000" y="1557338"/>
            <a:ext cx="1219200" cy="692150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4" name="Text Box 72"/>
          <p:cNvSpPr txBox="1">
            <a:spLocks noChangeArrowheads="1"/>
          </p:cNvSpPr>
          <p:nvPr/>
        </p:nvSpPr>
        <p:spPr bwMode="auto">
          <a:xfrm>
            <a:off x="4479925" y="720725"/>
            <a:ext cx="1087438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Tribunes VIP</a:t>
            </a:r>
          </a:p>
        </p:txBody>
      </p:sp>
      <p:sp>
        <p:nvSpPr>
          <p:cNvPr id="3145" name="Line 73"/>
          <p:cNvSpPr>
            <a:spLocks noChangeShapeType="1"/>
          </p:cNvSpPr>
          <p:nvPr/>
        </p:nvSpPr>
        <p:spPr bwMode="auto">
          <a:xfrm flipV="1">
            <a:off x="3032125" y="855663"/>
            <a:ext cx="1423988" cy="36988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6" name="Line 74"/>
          <p:cNvSpPr>
            <a:spLocks noChangeShapeType="1"/>
          </p:cNvSpPr>
          <p:nvPr/>
        </p:nvSpPr>
        <p:spPr bwMode="auto">
          <a:xfrm flipV="1">
            <a:off x="3032125" y="1071563"/>
            <a:ext cx="1568450" cy="47148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7" name="Text Box 75"/>
          <p:cNvSpPr txBox="1">
            <a:spLocks noChangeArrowheads="1"/>
          </p:cNvSpPr>
          <p:nvPr/>
        </p:nvSpPr>
        <p:spPr bwMode="auto">
          <a:xfrm>
            <a:off x="4587875" y="900113"/>
            <a:ext cx="149860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Prestige</a:t>
            </a:r>
          </a:p>
        </p:txBody>
      </p:sp>
      <p:sp>
        <p:nvSpPr>
          <p:cNvPr id="3149" name="Text Box 77"/>
          <p:cNvSpPr txBox="1">
            <a:spLocks noChangeArrowheads="1"/>
          </p:cNvSpPr>
          <p:nvPr/>
        </p:nvSpPr>
        <p:spPr bwMode="auto">
          <a:xfrm>
            <a:off x="5618163" y="1338263"/>
            <a:ext cx="119380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Sous-sol athlètes</a:t>
            </a:r>
          </a:p>
          <a:p>
            <a:endParaRPr lang="fr-FR" sz="1200" dirty="0"/>
          </a:p>
        </p:txBody>
      </p:sp>
      <p:sp>
        <p:nvSpPr>
          <p:cNvPr id="3150" name="Text Box 78"/>
          <p:cNvSpPr txBox="1">
            <a:spLocks noChangeArrowheads="1"/>
          </p:cNvSpPr>
          <p:nvPr/>
        </p:nvSpPr>
        <p:spPr bwMode="auto">
          <a:xfrm>
            <a:off x="1582738" y="3684588"/>
            <a:ext cx="79375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Entretien</a:t>
            </a:r>
          </a:p>
        </p:txBody>
      </p:sp>
      <p:sp>
        <p:nvSpPr>
          <p:cNvPr id="3151" name="Line 79"/>
          <p:cNvSpPr>
            <a:spLocks noChangeShapeType="1"/>
          </p:cNvSpPr>
          <p:nvPr/>
        </p:nvSpPr>
        <p:spPr bwMode="auto">
          <a:xfrm flipV="1">
            <a:off x="1725613" y="3883025"/>
            <a:ext cx="136525" cy="461963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52" name="Text Box 80"/>
          <p:cNvSpPr txBox="1">
            <a:spLocks noChangeArrowheads="1"/>
          </p:cNvSpPr>
          <p:nvPr/>
        </p:nvSpPr>
        <p:spPr bwMode="auto">
          <a:xfrm>
            <a:off x="2586038" y="4613275"/>
            <a:ext cx="4143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3153" name="Text Box 81"/>
          <p:cNvSpPr txBox="1">
            <a:spLocks noChangeArrowheads="1"/>
          </p:cNvSpPr>
          <p:nvPr/>
        </p:nvSpPr>
        <p:spPr bwMode="auto">
          <a:xfrm>
            <a:off x="4206875" y="4613275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Dubllin</a:t>
            </a:r>
          </a:p>
        </p:txBody>
      </p:sp>
      <p:sp>
        <p:nvSpPr>
          <p:cNvPr id="3154" name="Text Box 82"/>
          <p:cNvSpPr txBox="1">
            <a:spLocks noChangeArrowheads="1"/>
          </p:cNvSpPr>
          <p:nvPr/>
        </p:nvSpPr>
        <p:spPr bwMode="auto">
          <a:xfrm>
            <a:off x="4206875" y="3570288"/>
            <a:ext cx="4984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Kaboul</a:t>
            </a:r>
          </a:p>
        </p:txBody>
      </p:sp>
      <p:sp>
        <p:nvSpPr>
          <p:cNvPr id="3155" name="Text Box 83"/>
          <p:cNvSpPr txBox="1">
            <a:spLocks noChangeArrowheads="1"/>
          </p:cNvSpPr>
          <p:nvPr/>
        </p:nvSpPr>
        <p:spPr bwMode="auto">
          <a:xfrm>
            <a:off x="4098925" y="2814638"/>
            <a:ext cx="4238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Quito</a:t>
            </a:r>
          </a:p>
        </p:txBody>
      </p:sp>
      <p:sp>
        <p:nvSpPr>
          <p:cNvPr id="3156" name="Text Box 84"/>
          <p:cNvSpPr txBox="1">
            <a:spLocks noChangeArrowheads="1"/>
          </p:cNvSpPr>
          <p:nvPr/>
        </p:nvSpPr>
        <p:spPr bwMode="auto">
          <a:xfrm>
            <a:off x="3630613" y="3246438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Alger</a:t>
            </a:r>
          </a:p>
        </p:txBody>
      </p:sp>
      <p:sp>
        <p:nvSpPr>
          <p:cNvPr id="3157" name="Text Box 85"/>
          <p:cNvSpPr txBox="1">
            <a:spLocks noChangeArrowheads="1"/>
          </p:cNvSpPr>
          <p:nvPr/>
        </p:nvSpPr>
        <p:spPr bwMode="auto">
          <a:xfrm>
            <a:off x="3440112" y="2085360"/>
            <a:ext cx="436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3158" name="Text Box 86"/>
          <p:cNvSpPr txBox="1">
            <a:spLocks noChangeArrowheads="1"/>
          </p:cNvSpPr>
          <p:nvPr/>
        </p:nvSpPr>
        <p:spPr bwMode="auto">
          <a:xfrm>
            <a:off x="1506538" y="2166938"/>
            <a:ext cx="4413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Berlin</a:t>
            </a:r>
          </a:p>
        </p:txBody>
      </p:sp>
      <p:sp>
        <p:nvSpPr>
          <p:cNvPr id="3159" name="Text Box 87"/>
          <p:cNvSpPr txBox="1">
            <a:spLocks noChangeArrowheads="1"/>
          </p:cNvSpPr>
          <p:nvPr/>
        </p:nvSpPr>
        <p:spPr bwMode="auto">
          <a:xfrm>
            <a:off x="1506538" y="2851150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Madrid</a:t>
            </a:r>
          </a:p>
        </p:txBody>
      </p:sp>
      <p:sp>
        <p:nvSpPr>
          <p:cNvPr id="3160" name="Text Box 88"/>
          <p:cNvSpPr txBox="1">
            <a:spLocks noChangeArrowheads="1"/>
          </p:cNvSpPr>
          <p:nvPr/>
        </p:nvSpPr>
        <p:spPr bwMode="auto">
          <a:xfrm>
            <a:off x="1795463" y="331788"/>
            <a:ext cx="427037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Tunis</a:t>
            </a:r>
          </a:p>
        </p:txBody>
      </p:sp>
      <p:sp>
        <p:nvSpPr>
          <p:cNvPr id="3161" name="Text Box 89"/>
          <p:cNvSpPr txBox="1">
            <a:spLocks noChangeArrowheads="1"/>
          </p:cNvSpPr>
          <p:nvPr/>
        </p:nvSpPr>
        <p:spPr bwMode="auto">
          <a:xfrm>
            <a:off x="2947988" y="333375"/>
            <a:ext cx="54768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Londres</a:t>
            </a:r>
          </a:p>
        </p:txBody>
      </p:sp>
      <p:sp>
        <p:nvSpPr>
          <p:cNvPr id="3162" name="Text Box 90"/>
          <p:cNvSpPr txBox="1">
            <a:spLocks noChangeArrowheads="1"/>
          </p:cNvSpPr>
          <p:nvPr/>
        </p:nvSpPr>
        <p:spPr bwMode="auto">
          <a:xfrm>
            <a:off x="2892425" y="755650"/>
            <a:ext cx="5413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Monaco</a:t>
            </a:r>
          </a:p>
        </p:txBody>
      </p:sp>
      <p:sp>
        <p:nvSpPr>
          <p:cNvPr id="3163" name="Text Box 91"/>
          <p:cNvSpPr txBox="1">
            <a:spLocks noChangeArrowheads="1"/>
          </p:cNvSpPr>
          <p:nvPr/>
        </p:nvSpPr>
        <p:spPr bwMode="auto">
          <a:xfrm>
            <a:off x="2676525" y="1223963"/>
            <a:ext cx="5524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Moscow</a:t>
            </a:r>
          </a:p>
        </p:txBody>
      </p:sp>
      <p:sp>
        <p:nvSpPr>
          <p:cNvPr id="3164" name="Text Box 92"/>
          <p:cNvSpPr txBox="1">
            <a:spLocks noChangeArrowheads="1"/>
          </p:cNvSpPr>
          <p:nvPr/>
        </p:nvSpPr>
        <p:spPr bwMode="auto">
          <a:xfrm>
            <a:off x="1939925" y="1092200"/>
            <a:ext cx="55721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Bamako</a:t>
            </a:r>
          </a:p>
        </p:txBody>
      </p:sp>
      <p:sp>
        <p:nvSpPr>
          <p:cNvPr id="3166" name="Text Box 94"/>
          <p:cNvSpPr txBox="1">
            <a:spLocks noChangeArrowheads="1"/>
          </p:cNvSpPr>
          <p:nvPr/>
        </p:nvSpPr>
        <p:spPr bwMode="auto">
          <a:xfrm>
            <a:off x="6386513" y="2441575"/>
            <a:ext cx="4524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Dakar</a:t>
            </a:r>
          </a:p>
        </p:txBody>
      </p:sp>
      <p:sp>
        <p:nvSpPr>
          <p:cNvPr id="3167" name="Text Box 95"/>
          <p:cNvSpPr txBox="1">
            <a:spLocks noChangeArrowheads="1"/>
          </p:cNvSpPr>
          <p:nvPr/>
        </p:nvSpPr>
        <p:spPr bwMode="auto">
          <a:xfrm>
            <a:off x="6278563" y="2262188"/>
            <a:ext cx="4476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Tokyo</a:t>
            </a:r>
          </a:p>
        </p:txBody>
      </p:sp>
      <p:sp>
        <p:nvSpPr>
          <p:cNvPr id="3168" name="Text Box 96"/>
          <p:cNvSpPr txBox="1">
            <a:spLocks noChangeArrowheads="1"/>
          </p:cNvSpPr>
          <p:nvPr/>
        </p:nvSpPr>
        <p:spPr bwMode="auto">
          <a:xfrm>
            <a:off x="7070725" y="2946400"/>
            <a:ext cx="4127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Suva</a:t>
            </a:r>
          </a:p>
        </p:txBody>
      </p:sp>
      <p:sp>
        <p:nvSpPr>
          <p:cNvPr id="3169" name="Text Box 97"/>
          <p:cNvSpPr txBox="1">
            <a:spLocks noChangeArrowheads="1"/>
          </p:cNvSpPr>
          <p:nvPr/>
        </p:nvSpPr>
        <p:spPr bwMode="auto">
          <a:xfrm>
            <a:off x="5126683" y="2902046"/>
            <a:ext cx="5937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Lisbonne</a:t>
            </a:r>
          </a:p>
        </p:txBody>
      </p:sp>
      <p:sp>
        <p:nvSpPr>
          <p:cNvPr id="3170" name="Text Box 98"/>
          <p:cNvSpPr txBox="1">
            <a:spLocks noChangeArrowheads="1"/>
          </p:cNvSpPr>
          <p:nvPr/>
        </p:nvSpPr>
        <p:spPr bwMode="auto">
          <a:xfrm>
            <a:off x="5954713" y="4025900"/>
            <a:ext cx="4032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Lima</a:t>
            </a:r>
          </a:p>
        </p:txBody>
      </p:sp>
      <p:sp>
        <p:nvSpPr>
          <p:cNvPr id="3171" name="Text Box 99"/>
          <p:cNvSpPr txBox="1">
            <a:spLocks noChangeArrowheads="1"/>
          </p:cNvSpPr>
          <p:nvPr/>
        </p:nvSpPr>
        <p:spPr bwMode="auto">
          <a:xfrm>
            <a:off x="5270500" y="2011363"/>
            <a:ext cx="5016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Mexico</a:t>
            </a:r>
          </a:p>
        </p:txBody>
      </p:sp>
      <p:sp>
        <p:nvSpPr>
          <p:cNvPr id="3173" name="Text Box 101"/>
          <p:cNvSpPr txBox="1">
            <a:spLocks noChangeArrowheads="1"/>
          </p:cNvSpPr>
          <p:nvPr/>
        </p:nvSpPr>
        <p:spPr bwMode="auto">
          <a:xfrm>
            <a:off x="4895651" y="4243388"/>
            <a:ext cx="7207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Washington</a:t>
            </a:r>
          </a:p>
        </p:txBody>
      </p:sp>
      <p:sp>
        <p:nvSpPr>
          <p:cNvPr id="3175" name="Text Box 103"/>
          <p:cNvSpPr txBox="1">
            <a:spLocks noChangeArrowheads="1"/>
          </p:cNvSpPr>
          <p:nvPr/>
        </p:nvSpPr>
        <p:spPr bwMode="auto">
          <a:xfrm>
            <a:off x="4765675" y="2514600"/>
            <a:ext cx="5016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Nairobi</a:t>
            </a:r>
          </a:p>
        </p:txBody>
      </p:sp>
      <p:sp>
        <p:nvSpPr>
          <p:cNvPr id="3177" name="Text Box 105"/>
          <p:cNvSpPr txBox="1">
            <a:spLocks noChangeArrowheads="1"/>
          </p:cNvSpPr>
          <p:nvPr/>
        </p:nvSpPr>
        <p:spPr bwMode="auto">
          <a:xfrm>
            <a:off x="4133850" y="2454275"/>
            <a:ext cx="4524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Rabat</a:t>
            </a:r>
          </a:p>
        </p:txBody>
      </p:sp>
      <p:sp>
        <p:nvSpPr>
          <p:cNvPr id="3178" name="Text Box 106"/>
          <p:cNvSpPr txBox="1">
            <a:spLocks noChangeArrowheads="1"/>
          </p:cNvSpPr>
          <p:nvPr/>
        </p:nvSpPr>
        <p:spPr bwMode="auto">
          <a:xfrm>
            <a:off x="889000" y="2614613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</a:t>
            </a:r>
          </a:p>
        </p:txBody>
      </p:sp>
      <p:sp>
        <p:nvSpPr>
          <p:cNvPr id="3179" name="Text Box 107"/>
          <p:cNvSpPr txBox="1">
            <a:spLocks noChangeArrowheads="1"/>
          </p:cNvSpPr>
          <p:nvPr/>
        </p:nvSpPr>
        <p:spPr bwMode="auto">
          <a:xfrm>
            <a:off x="1465263" y="2614613"/>
            <a:ext cx="3095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C2</a:t>
            </a:r>
          </a:p>
        </p:txBody>
      </p:sp>
      <p:sp>
        <p:nvSpPr>
          <p:cNvPr id="3180" name="Text Box 108"/>
          <p:cNvSpPr txBox="1">
            <a:spLocks noChangeArrowheads="1"/>
          </p:cNvSpPr>
          <p:nvPr/>
        </p:nvSpPr>
        <p:spPr bwMode="auto">
          <a:xfrm>
            <a:off x="1609725" y="13906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C3</a:t>
            </a:r>
          </a:p>
        </p:txBody>
      </p:sp>
      <p:sp>
        <p:nvSpPr>
          <p:cNvPr id="3181" name="Text Box 109"/>
          <p:cNvSpPr txBox="1">
            <a:spLocks noChangeArrowheads="1"/>
          </p:cNvSpPr>
          <p:nvPr/>
        </p:nvSpPr>
        <p:spPr bwMode="auto">
          <a:xfrm>
            <a:off x="2473325" y="81438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C4</a:t>
            </a:r>
          </a:p>
        </p:txBody>
      </p:sp>
      <p:sp>
        <p:nvSpPr>
          <p:cNvPr id="3182" name="Text Box 110"/>
          <p:cNvSpPr txBox="1">
            <a:spLocks noChangeArrowheads="1"/>
          </p:cNvSpPr>
          <p:nvPr/>
        </p:nvSpPr>
        <p:spPr bwMode="auto">
          <a:xfrm>
            <a:off x="3121025" y="2290763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C5</a:t>
            </a:r>
          </a:p>
        </p:txBody>
      </p:sp>
      <p:sp>
        <p:nvSpPr>
          <p:cNvPr id="3183" name="Text Box 111"/>
          <p:cNvSpPr txBox="1">
            <a:spLocks noChangeArrowheads="1"/>
          </p:cNvSpPr>
          <p:nvPr/>
        </p:nvSpPr>
        <p:spPr bwMode="auto">
          <a:xfrm>
            <a:off x="3552825" y="42354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C6</a:t>
            </a:r>
          </a:p>
        </p:txBody>
      </p:sp>
      <p:sp>
        <p:nvSpPr>
          <p:cNvPr id="3184" name="Text Box 112"/>
          <p:cNvSpPr txBox="1">
            <a:spLocks noChangeArrowheads="1"/>
          </p:cNvSpPr>
          <p:nvPr/>
        </p:nvSpPr>
        <p:spPr bwMode="auto">
          <a:xfrm>
            <a:off x="4129088" y="423545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C7</a:t>
            </a:r>
          </a:p>
        </p:txBody>
      </p:sp>
      <p:sp>
        <p:nvSpPr>
          <p:cNvPr id="3185" name="Text Box 113"/>
          <p:cNvSpPr txBox="1">
            <a:spLocks noChangeArrowheads="1"/>
          </p:cNvSpPr>
          <p:nvPr/>
        </p:nvSpPr>
        <p:spPr bwMode="auto">
          <a:xfrm>
            <a:off x="5281613" y="261620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C8</a:t>
            </a:r>
          </a:p>
        </p:txBody>
      </p:sp>
      <p:sp>
        <p:nvSpPr>
          <p:cNvPr id="3186" name="Text Box 114"/>
          <p:cNvSpPr txBox="1">
            <a:spLocks noChangeArrowheads="1"/>
          </p:cNvSpPr>
          <p:nvPr/>
        </p:nvSpPr>
        <p:spPr bwMode="auto">
          <a:xfrm>
            <a:off x="7081838" y="2257425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C9</a:t>
            </a:r>
          </a:p>
        </p:txBody>
      </p:sp>
      <p:sp>
        <p:nvSpPr>
          <p:cNvPr id="3187" name="Oval 115"/>
          <p:cNvSpPr>
            <a:spLocks noChangeArrowheads="1"/>
          </p:cNvSpPr>
          <p:nvPr/>
        </p:nvSpPr>
        <p:spPr bwMode="auto">
          <a:xfrm>
            <a:off x="3389313" y="46529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88" name="Text Box 116"/>
          <p:cNvSpPr txBox="1">
            <a:spLocks noChangeArrowheads="1"/>
          </p:cNvSpPr>
          <p:nvPr/>
        </p:nvSpPr>
        <p:spPr bwMode="auto">
          <a:xfrm>
            <a:off x="3481388" y="4703763"/>
            <a:ext cx="3667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C10</a:t>
            </a:r>
          </a:p>
        </p:txBody>
      </p:sp>
      <p:sp>
        <p:nvSpPr>
          <p:cNvPr id="3189" name="Oval 117"/>
          <p:cNvSpPr>
            <a:spLocks noChangeArrowheads="1"/>
          </p:cNvSpPr>
          <p:nvPr/>
        </p:nvSpPr>
        <p:spPr bwMode="auto">
          <a:xfrm>
            <a:off x="5549900" y="7302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90" name="Text Box 118"/>
          <p:cNvSpPr txBox="1">
            <a:spLocks noChangeArrowheads="1"/>
          </p:cNvSpPr>
          <p:nvPr/>
        </p:nvSpPr>
        <p:spPr bwMode="auto">
          <a:xfrm>
            <a:off x="5676900" y="673100"/>
            <a:ext cx="35877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C11</a:t>
            </a:r>
          </a:p>
        </p:txBody>
      </p:sp>
      <p:sp>
        <p:nvSpPr>
          <p:cNvPr id="3191" name="Text Box 119"/>
          <p:cNvSpPr txBox="1">
            <a:spLocks noChangeArrowheads="1"/>
          </p:cNvSpPr>
          <p:nvPr/>
        </p:nvSpPr>
        <p:spPr bwMode="auto">
          <a:xfrm>
            <a:off x="3379788" y="3571875"/>
            <a:ext cx="6524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Jerusalem</a:t>
            </a:r>
          </a:p>
        </p:txBody>
      </p:sp>
      <p:sp>
        <p:nvSpPr>
          <p:cNvPr id="3192" name="Text Box 120"/>
          <p:cNvSpPr txBox="1">
            <a:spLocks noChangeArrowheads="1"/>
          </p:cNvSpPr>
          <p:nvPr/>
        </p:nvSpPr>
        <p:spPr bwMode="auto">
          <a:xfrm>
            <a:off x="1651000" y="2347913"/>
            <a:ext cx="3905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Oslo</a:t>
            </a:r>
          </a:p>
        </p:txBody>
      </p:sp>
      <p:sp>
        <p:nvSpPr>
          <p:cNvPr id="3193" name="Text Box 121"/>
          <p:cNvSpPr txBox="1">
            <a:spLocks noChangeArrowheads="1"/>
          </p:cNvSpPr>
          <p:nvPr/>
        </p:nvSpPr>
        <p:spPr bwMode="auto">
          <a:xfrm>
            <a:off x="2840038" y="3500438"/>
            <a:ext cx="388937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Riga</a:t>
            </a:r>
          </a:p>
        </p:txBody>
      </p:sp>
      <p:sp>
        <p:nvSpPr>
          <p:cNvPr id="3194" name="Text Box 122"/>
          <p:cNvSpPr txBox="1">
            <a:spLocks noChangeArrowheads="1"/>
          </p:cNvSpPr>
          <p:nvPr/>
        </p:nvSpPr>
        <p:spPr bwMode="auto">
          <a:xfrm rot="16140000">
            <a:off x="7335837" y="2741613"/>
            <a:ext cx="873125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Oceania</a:t>
            </a:r>
          </a:p>
        </p:txBody>
      </p:sp>
      <p:sp>
        <p:nvSpPr>
          <p:cNvPr id="3195" name="Text Box 123"/>
          <p:cNvSpPr txBox="1">
            <a:spLocks noChangeArrowheads="1"/>
          </p:cNvSpPr>
          <p:nvPr/>
        </p:nvSpPr>
        <p:spPr bwMode="auto">
          <a:xfrm rot="16140000">
            <a:off x="7335837" y="2741613"/>
            <a:ext cx="873125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Oceania</a:t>
            </a:r>
          </a:p>
        </p:txBody>
      </p:sp>
      <p:sp>
        <p:nvSpPr>
          <p:cNvPr id="3196" name="Text Box 124"/>
          <p:cNvSpPr txBox="1">
            <a:spLocks noChangeArrowheads="1"/>
          </p:cNvSpPr>
          <p:nvPr/>
        </p:nvSpPr>
        <p:spPr bwMode="auto">
          <a:xfrm rot="16140000">
            <a:off x="6470650" y="2898775"/>
            <a:ext cx="6159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Africa</a:t>
            </a:r>
          </a:p>
        </p:txBody>
      </p:sp>
      <p:sp>
        <p:nvSpPr>
          <p:cNvPr id="3197" name="Text Box 125"/>
          <p:cNvSpPr txBox="1">
            <a:spLocks noChangeArrowheads="1"/>
          </p:cNvSpPr>
          <p:nvPr/>
        </p:nvSpPr>
        <p:spPr bwMode="auto">
          <a:xfrm>
            <a:off x="6286500" y="1933575"/>
            <a:ext cx="8223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Asia</a:t>
            </a:r>
          </a:p>
        </p:txBody>
      </p:sp>
      <p:sp>
        <p:nvSpPr>
          <p:cNvPr id="3198" name="Text Box 126"/>
          <p:cNvSpPr txBox="1">
            <a:spLocks noChangeArrowheads="1"/>
          </p:cNvSpPr>
          <p:nvPr/>
        </p:nvSpPr>
        <p:spPr bwMode="auto">
          <a:xfrm>
            <a:off x="4206875" y="1482725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Dubllin</a:t>
            </a:r>
          </a:p>
        </p:txBody>
      </p:sp>
      <p:sp>
        <p:nvSpPr>
          <p:cNvPr id="3199" name="Oval 127"/>
          <p:cNvSpPr>
            <a:spLocks noChangeArrowheads="1"/>
          </p:cNvSpPr>
          <p:nvPr/>
        </p:nvSpPr>
        <p:spPr bwMode="auto">
          <a:xfrm>
            <a:off x="2238375" y="2619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0" name="Text Box 128"/>
          <p:cNvSpPr txBox="1">
            <a:spLocks noChangeArrowheads="1"/>
          </p:cNvSpPr>
          <p:nvPr/>
        </p:nvSpPr>
        <p:spPr bwMode="auto">
          <a:xfrm>
            <a:off x="2328863" y="312738"/>
            <a:ext cx="3667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C12</a:t>
            </a:r>
          </a:p>
        </p:txBody>
      </p:sp>
      <p:sp>
        <p:nvSpPr>
          <p:cNvPr id="3201" name="Line 129"/>
          <p:cNvSpPr>
            <a:spLocks noChangeShapeType="1"/>
          </p:cNvSpPr>
          <p:nvPr/>
        </p:nvSpPr>
        <p:spPr bwMode="auto">
          <a:xfrm>
            <a:off x="2671763" y="-149225"/>
            <a:ext cx="74612" cy="73025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2" name="Line 130"/>
          <p:cNvSpPr>
            <a:spLocks noChangeShapeType="1"/>
          </p:cNvSpPr>
          <p:nvPr/>
        </p:nvSpPr>
        <p:spPr bwMode="auto">
          <a:xfrm>
            <a:off x="4098925" y="4529138"/>
            <a:ext cx="269875" cy="701675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3" name="AutoShape 131"/>
          <p:cNvSpPr>
            <a:spLocks noChangeArrowheads="1"/>
          </p:cNvSpPr>
          <p:nvPr/>
        </p:nvSpPr>
        <p:spPr bwMode="auto">
          <a:xfrm flipH="1">
            <a:off x="1116013" y="4829175"/>
            <a:ext cx="668337" cy="400050"/>
          </a:xfrm>
          <a:prstGeom prst="notchedRightArrow">
            <a:avLst>
              <a:gd name="adj1" fmla="val 50000"/>
              <a:gd name="adj2" fmla="val 41766"/>
            </a:avLst>
          </a:prstGeom>
          <a:solidFill>
            <a:srgbClr val="CFE7F5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4" name="Text Box 132"/>
          <p:cNvSpPr txBox="1">
            <a:spLocks noChangeArrowheads="1"/>
          </p:cNvSpPr>
          <p:nvPr/>
        </p:nvSpPr>
        <p:spPr bwMode="auto">
          <a:xfrm>
            <a:off x="1782763" y="4914900"/>
            <a:ext cx="195421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Acces aux parkings Ouest</a:t>
            </a:r>
          </a:p>
        </p:txBody>
      </p:sp>
      <p:sp>
        <p:nvSpPr>
          <p:cNvPr id="3205" name="AutoShape 133"/>
          <p:cNvSpPr>
            <a:spLocks noChangeArrowheads="1"/>
          </p:cNvSpPr>
          <p:nvPr/>
        </p:nvSpPr>
        <p:spPr bwMode="auto">
          <a:xfrm>
            <a:off x="7300913" y="976313"/>
            <a:ext cx="557212" cy="400050"/>
          </a:xfrm>
          <a:prstGeom prst="notchedRightArrow">
            <a:avLst>
              <a:gd name="adj1" fmla="val 50000"/>
              <a:gd name="adj2" fmla="val 34821"/>
            </a:avLst>
          </a:prstGeom>
          <a:solidFill>
            <a:srgbClr val="CFE7F5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6" name="Text Box 134"/>
          <p:cNvSpPr txBox="1">
            <a:spLocks noChangeArrowheads="1"/>
          </p:cNvSpPr>
          <p:nvPr/>
        </p:nvSpPr>
        <p:spPr bwMode="auto">
          <a:xfrm>
            <a:off x="6086475" y="639763"/>
            <a:ext cx="17668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Accès aux parkings Est</a:t>
            </a:r>
          </a:p>
        </p:txBody>
      </p:sp>
      <p:sp>
        <p:nvSpPr>
          <p:cNvPr id="3207" name="Line 135"/>
          <p:cNvSpPr>
            <a:spLocks noChangeShapeType="1"/>
          </p:cNvSpPr>
          <p:nvPr/>
        </p:nvSpPr>
        <p:spPr bwMode="auto">
          <a:xfrm>
            <a:off x="2692400" y="1577975"/>
            <a:ext cx="477838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8" name="Text Box 136"/>
          <p:cNvSpPr txBox="1">
            <a:spLocks noChangeArrowheads="1"/>
          </p:cNvSpPr>
          <p:nvPr/>
        </p:nvSpPr>
        <p:spPr bwMode="auto">
          <a:xfrm>
            <a:off x="2654300" y="2381250"/>
            <a:ext cx="7762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Arene</a:t>
            </a:r>
          </a:p>
        </p:txBody>
      </p:sp>
      <p:sp>
        <p:nvSpPr>
          <p:cNvPr id="3209" name="Text Box 137"/>
          <p:cNvSpPr txBox="1">
            <a:spLocks noChangeArrowheads="1"/>
          </p:cNvSpPr>
          <p:nvPr/>
        </p:nvSpPr>
        <p:spPr bwMode="auto">
          <a:xfrm>
            <a:off x="3370263" y="596900"/>
            <a:ext cx="72866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Tampon</a:t>
            </a:r>
          </a:p>
        </p:txBody>
      </p:sp>
      <p:sp>
        <p:nvSpPr>
          <p:cNvPr id="3210" name="AutoShape 138"/>
          <p:cNvSpPr>
            <a:spLocks noChangeArrowheads="1"/>
          </p:cNvSpPr>
          <p:nvPr/>
        </p:nvSpPr>
        <p:spPr bwMode="auto">
          <a:xfrm>
            <a:off x="2327275" y="44640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1" name="Text Box 139"/>
          <p:cNvSpPr txBox="1">
            <a:spLocks noChangeArrowheads="1"/>
          </p:cNvSpPr>
          <p:nvPr/>
        </p:nvSpPr>
        <p:spPr bwMode="auto">
          <a:xfrm>
            <a:off x="2082800" y="4613275"/>
            <a:ext cx="5556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Athenes</a:t>
            </a:r>
          </a:p>
        </p:txBody>
      </p:sp>
      <p:sp>
        <p:nvSpPr>
          <p:cNvPr id="3212" name="AutoShape 140"/>
          <p:cNvSpPr>
            <a:spLocks noChangeArrowheads="1"/>
          </p:cNvSpPr>
          <p:nvPr/>
        </p:nvSpPr>
        <p:spPr bwMode="auto">
          <a:xfrm>
            <a:off x="1427163" y="32400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3" name="Text Box 141"/>
          <p:cNvSpPr txBox="1">
            <a:spLocks noChangeArrowheads="1"/>
          </p:cNvSpPr>
          <p:nvPr/>
        </p:nvSpPr>
        <p:spPr bwMode="auto">
          <a:xfrm>
            <a:off x="1492250" y="3235325"/>
            <a:ext cx="56038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Caracas</a:t>
            </a:r>
          </a:p>
        </p:txBody>
      </p:sp>
      <p:sp>
        <p:nvSpPr>
          <p:cNvPr id="3214" name="AutoShape 142"/>
          <p:cNvSpPr>
            <a:spLocks noChangeArrowheads="1"/>
          </p:cNvSpPr>
          <p:nvPr/>
        </p:nvSpPr>
        <p:spPr bwMode="auto">
          <a:xfrm>
            <a:off x="1427163" y="176530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5" name="Text Box 143"/>
          <p:cNvSpPr txBox="1">
            <a:spLocks noChangeArrowheads="1"/>
          </p:cNvSpPr>
          <p:nvPr/>
        </p:nvSpPr>
        <p:spPr bwMode="auto">
          <a:xfrm>
            <a:off x="1543050" y="1735138"/>
            <a:ext cx="4921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Harare</a:t>
            </a:r>
          </a:p>
        </p:txBody>
      </p:sp>
      <p:sp>
        <p:nvSpPr>
          <p:cNvPr id="3216" name="AutoShape 144"/>
          <p:cNvSpPr>
            <a:spLocks noChangeArrowheads="1"/>
          </p:cNvSpPr>
          <p:nvPr/>
        </p:nvSpPr>
        <p:spPr bwMode="auto">
          <a:xfrm>
            <a:off x="2273300" y="33718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7" name="Text Box 145"/>
          <p:cNvSpPr txBox="1">
            <a:spLocks noChangeArrowheads="1"/>
          </p:cNvSpPr>
          <p:nvPr/>
        </p:nvSpPr>
        <p:spPr bwMode="auto">
          <a:xfrm>
            <a:off x="1795463" y="3429000"/>
            <a:ext cx="5842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Kampala</a:t>
            </a:r>
          </a:p>
        </p:txBody>
      </p:sp>
      <p:sp>
        <p:nvSpPr>
          <p:cNvPr id="3218" name="AutoShape 146"/>
          <p:cNvSpPr>
            <a:spLocks noChangeArrowheads="1"/>
          </p:cNvSpPr>
          <p:nvPr/>
        </p:nvSpPr>
        <p:spPr bwMode="auto">
          <a:xfrm>
            <a:off x="3100388" y="36591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9" name="Text Box 147"/>
          <p:cNvSpPr txBox="1">
            <a:spLocks noChangeArrowheads="1"/>
          </p:cNvSpPr>
          <p:nvPr/>
        </p:nvSpPr>
        <p:spPr bwMode="auto">
          <a:xfrm>
            <a:off x="3200400" y="3717925"/>
            <a:ext cx="7032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Katmandou</a:t>
            </a:r>
          </a:p>
        </p:txBody>
      </p:sp>
      <p:sp>
        <p:nvSpPr>
          <p:cNvPr id="3220" name="AutoShape 148"/>
          <p:cNvSpPr>
            <a:spLocks noChangeArrowheads="1"/>
          </p:cNvSpPr>
          <p:nvPr/>
        </p:nvSpPr>
        <p:spPr bwMode="auto">
          <a:xfrm>
            <a:off x="2901950" y="370840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1" name="Text Box 149"/>
          <p:cNvSpPr txBox="1">
            <a:spLocks noChangeArrowheads="1"/>
          </p:cNvSpPr>
          <p:nvPr/>
        </p:nvSpPr>
        <p:spPr bwMode="auto">
          <a:xfrm>
            <a:off x="2516188" y="3862388"/>
            <a:ext cx="5778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Kingston</a:t>
            </a:r>
          </a:p>
        </p:txBody>
      </p:sp>
      <p:sp>
        <p:nvSpPr>
          <p:cNvPr id="3222" name="AutoShape 150"/>
          <p:cNvSpPr>
            <a:spLocks noChangeArrowheads="1"/>
          </p:cNvSpPr>
          <p:nvPr/>
        </p:nvSpPr>
        <p:spPr bwMode="auto">
          <a:xfrm>
            <a:off x="4356100" y="4442619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7" name="Text Box 155"/>
          <p:cNvSpPr txBox="1">
            <a:spLocks noChangeArrowheads="1"/>
          </p:cNvSpPr>
          <p:nvPr/>
        </p:nvSpPr>
        <p:spPr bwMode="auto">
          <a:xfrm>
            <a:off x="5178425" y="4614863"/>
            <a:ext cx="8191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30 bissas Astra</a:t>
            </a:r>
          </a:p>
        </p:txBody>
      </p:sp>
      <p:sp>
        <p:nvSpPr>
          <p:cNvPr id="3228" name="Oval 156"/>
          <p:cNvSpPr>
            <a:spLocks noChangeArrowheads="1"/>
          </p:cNvSpPr>
          <p:nvPr/>
        </p:nvSpPr>
        <p:spPr bwMode="auto">
          <a:xfrm>
            <a:off x="6234113" y="46894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9" name="Text Box 157"/>
          <p:cNvSpPr txBox="1">
            <a:spLocks noChangeArrowheads="1"/>
          </p:cNvSpPr>
          <p:nvPr/>
        </p:nvSpPr>
        <p:spPr bwMode="auto">
          <a:xfrm>
            <a:off x="6402388" y="4649788"/>
            <a:ext cx="8874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caméra externe</a:t>
            </a:r>
          </a:p>
        </p:txBody>
      </p:sp>
      <p:sp>
        <p:nvSpPr>
          <p:cNvPr id="3230" name="Line 158"/>
          <p:cNvSpPr>
            <a:spLocks noChangeShapeType="1"/>
          </p:cNvSpPr>
          <p:nvPr/>
        </p:nvSpPr>
        <p:spPr bwMode="auto">
          <a:xfrm flipV="1">
            <a:off x="7866063" y="1689100"/>
            <a:ext cx="612775" cy="7620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32" name="Text Box 160"/>
          <p:cNvSpPr txBox="1">
            <a:spLocks noChangeArrowheads="1"/>
          </p:cNvSpPr>
          <p:nvPr/>
        </p:nvSpPr>
        <p:spPr bwMode="auto">
          <a:xfrm>
            <a:off x="2711450" y="1989138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33" name="Text Box 161"/>
          <p:cNvSpPr txBox="1">
            <a:spLocks noChangeArrowheads="1"/>
          </p:cNvSpPr>
          <p:nvPr/>
        </p:nvSpPr>
        <p:spPr bwMode="auto">
          <a:xfrm>
            <a:off x="2566988" y="4244975"/>
            <a:ext cx="4746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>
                <a:solidFill>
                  <a:srgbClr val="CC0000"/>
                </a:solidFill>
              </a:rPr>
              <a:t>(2000)</a:t>
            </a:r>
          </a:p>
        </p:txBody>
      </p:sp>
      <p:sp>
        <p:nvSpPr>
          <p:cNvPr id="3234" name="Text Box 162"/>
          <p:cNvSpPr txBox="1">
            <a:spLocks noChangeArrowheads="1"/>
          </p:cNvSpPr>
          <p:nvPr/>
        </p:nvSpPr>
        <p:spPr bwMode="auto">
          <a:xfrm>
            <a:off x="1487488" y="4138613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35" name="Text Box 163"/>
          <p:cNvSpPr txBox="1">
            <a:spLocks noChangeArrowheads="1"/>
          </p:cNvSpPr>
          <p:nvPr/>
        </p:nvSpPr>
        <p:spPr bwMode="auto">
          <a:xfrm>
            <a:off x="2027238" y="207645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36" name="Text Box 164"/>
          <p:cNvSpPr txBox="1">
            <a:spLocks noChangeArrowheads="1"/>
          </p:cNvSpPr>
          <p:nvPr/>
        </p:nvSpPr>
        <p:spPr bwMode="auto">
          <a:xfrm>
            <a:off x="3432175" y="2544763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37" name="Text Box 165"/>
          <p:cNvSpPr txBox="1">
            <a:spLocks noChangeArrowheads="1"/>
          </p:cNvSpPr>
          <p:nvPr/>
        </p:nvSpPr>
        <p:spPr bwMode="auto">
          <a:xfrm>
            <a:off x="2027238" y="744538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(50)</a:t>
            </a:r>
          </a:p>
        </p:txBody>
      </p:sp>
      <p:sp>
        <p:nvSpPr>
          <p:cNvPr id="3238" name="Text Box 166"/>
          <p:cNvSpPr txBox="1">
            <a:spLocks noChangeArrowheads="1"/>
          </p:cNvSpPr>
          <p:nvPr/>
        </p:nvSpPr>
        <p:spPr bwMode="auto">
          <a:xfrm>
            <a:off x="2747963" y="1104900"/>
            <a:ext cx="3603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(50)</a:t>
            </a:r>
          </a:p>
        </p:txBody>
      </p:sp>
      <p:sp>
        <p:nvSpPr>
          <p:cNvPr id="3239" name="Text Box 167"/>
          <p:cNvSpPr txBox="1">
            <a:spLocks noChangeArrowheads="1"/>
          </p:cNvSpPr>
          <p:nvPr/>
        </p:nvSpPr>
        <p:spPr bwMode="auto">
          <a:xfrm>
            <a:off x="2619693" y="1456531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40" name="Text Box 168"/>
          <p:cNvSpPr txBox="1">
            <a:spLocks noChangeArrowheads="1"/>
          </p:cNvSpPr>
          <p:nvPr/>
        </p:nvSpPr>
        <p:spPr bwMode="auto">
          <a:xfrm>
            <a:off x="4403725" y="2797175"/>
            <a:ext cx="3603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41" name="Text Box 169"/>
          <p:cNvSpPr txBox="1">
            <a:spLocks noChangeArrowheads="1"/>
          </p:cNvSpPr>
          <p:nvPr/>
        </p:nvSpPr>
        <p:spPr bwMode="auto">
          <a:xfrm>
            <a:off x="4440238" y="4130675"/>
            <a:ext cx="3603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(80)</a:t>
            </a:r>
          </a:p>
        </p:txBody>
      </p:sp>
      <p:sp>
        <p:nvSpPr>
          <p:cNvPr id="3242" name="Text Box 170"/>
          <p:cNvSpPr txBox="1">
            <a:spLocks noChangeArrowheads="1"/>
          </p:cNvSpPr>
          <p:nvPr/>
        </p:nvSpPr>
        <p:spPr bwMode="auto">
          <a:xfrm>
            <a:off x="4151313" y="18256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3" name="Text Box 171"/>
          <p:cNvSpPr txBox="1">
            <a:spLocks noChangeArrowheads="1"/>
          </p:cNvSpPr>
          <p:nvPr/>
        </p:nvSpPr>
        <p:spPr bwMode="auto">
          <a:xfrm>
            <a:off x="4151313" y="211455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(100)</a:t>
            </a:r>
          </a:p>
        </p:txBody>
      </p:sp>
      <p:sp>
        <p:nvSpPr>
          <p:cNvPr id="3244" name="Text Box 172"/>
          <p:cNvSpPr txBox="1">
            <a:spLocks noChangeArrowheads="1"/>
          </p:cNvSpPr>
          <p:nvPr/>
        </p:nvSpPr>
        <p:spPr bwMode="auto">
          <a:xfrm>
            <a:off x="5448300" y="3856038"/>
            <a:ext cx="419100" cy="1936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45" name="Text Box 173"/>
          <p:cNvSpPr txBox="1">
            <a:spLocks noChangeArrowheads="1"/>
          </p:cNvSpPr>
          <p:nvPr/>
        </p:nvSpPr>
        <p:spPr bwMode="auto">
          <a:xfrm>
            <a:off x="6491288" y="33750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6" name="Text Box 174"/>
          <p:cNvSpPr txBox="1">
            <a:spLocks noChangeArrowheads="1"/>
          </p:cNvSpPr>
          <p:nvPr/>
        </p:nvSpPr>
        <p:spPr bwMode="auto">
          <a:xfrm>
            <a:off x="7462838" y="3376613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7" name="Text Box 175"/>
          <p:cNvSpPr txBox="1">
            <a:spLocks noChangeArrowheads="1"/>
          </p:cNvSpPr>
          <p:nvPr/>
        </p:nvSpPr>
        <p:spPr bwMode="auto">
          <a:xfrm>
            <a:off x="6707188" y="197167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8" name="Text Box 176"/>
          <p:cNvSpPr txBox="1">
            <a:spLocks noChangeArrowheads="1"/>
          </p:cNvSpPr>
          <p:nvPr/>
        </p:nvSpPr>
        <p:spPr bwMode="auto">
          <a:xfrm>
            <a:off x="5772150" y="312420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9" name="Text Box 177"/>
          <p:cNvSpPr txBox="1">
            <a:spLocks noChangeArrowheads="1"/>
          </p:cNvSpPr>
          <p:nvPr/>
        </p:nvSpPr>
        <p:spPr bwMode="auto">
          <a:xfrm>
            <a:off x="6991350" y="41243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(300)</a:t>
            </a:r>
          </a:p>
        </p:txBody>
      </p:sp>
      <p:sp>
        <p:nvSpPr>
          <p:cNvPr id="3250" name="Text Box 178"/>
          <p:cNvSpPr txBox="1">
            <a:spLocks noChangeArrowheads="1"/>
          </p:cNvSpPr>
          <p:nvPr/>
        </p:nvSpPr>
        <p:spPr bwMode="auto">
          <a:xfrm>
            <a:off x="6130925" y="485140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(100)</a:t>
            </a:r>
          </a:p>
        </p:txBody>
      </p:sp>
      <p:sp>
        <p:nvSpPr>
          <p:cNvPr id="3251" name="Text Box 179"/>
          <p:cNvSpPr txBox="1">
            <a:spLocks noChangeArrowheads="1"/>
          </p:cNvSpPr>
          <p:nvPr/>
        </p:nvSpPr>
        <p:spPr bwMode="auto">
          <a:xfrm>
            <a:off x="6402388" y="4830763"/>
            <a:ext cx="14144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nb de personnes maximum</a:t>
            </a:r>
          </a:p>
        </p:txBody>
      </p:sp>
      <p:sp>
        <p:nvSpPr>
          <p:cNvPr id="181" name="AutoShape 154"/>
          <p:cNvSpPr>
            <a:spLocks noChangeArrowheads="1"/>
          </p:cNvSpPr>
          <p:nvPr/>
        </p:nvSpPr>
        <p:spPr bwMode="auto">
          <a:xfrm>
            <a:off x="4320232" y="3419797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9999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" name="ZoneTexte 1"/>
          <p:cNvSpPr txBox="1"/>
          <p:nvPr/>
        </p:nvSpPr>
        <p:spPr>
          <a:xfrm>
            <a:off x="4158845" y="5877840"/>
            <a:ext cx="2621230" cy="3499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Stade national de Pékin</a:t>
            </a:r>
          </a:p>
        </p:txBody>
      </p:sp>
      <p:sp>
        <p:nvSpPr>
          <p:cNvPr id="7" name="AutoShape 150">
            <a:extLst>
              <a:ext uri="{FF2B5EF4-FFF2-40B4-BE49-F238E27FC236}">
                <a16:creationId xmlns:a16="http://schemas.microsoft.com/office/drawing/2014/main" id="{1803D4F1-8BA2-A1C4-0544-C9D1FD2CC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1836" y="44402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" name="AutoShape 150">
            <a:extLst>
              <a:ext uri="{FF2B5EF4-FFF2-40B4-BE49-F238E27FC236}">
                <a16:creationId xmlns:a16="http://schemas.microsoft.com/office/drawing/2014/main" id="{D7F24293-7925-6727-1ADB-02D779D38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7554" y="4645025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AutoShape 150">
            <a:extLst>
              <a:ext uri="{FF2B5EF4-FFF2-40B4-BE49-F238E27FC236}">
                <a16:creationId xmlns:a16="http://schemas.microsoft.com/office/drawing/2014/main" id="{8B094F90-3315-00F0-7A93-80F03157CE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9706" y="29257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AutoShape 150">
            <a:extLst>
              <a:ext uri="{FF2B5EF4-FFF2-40B4-BE49-F238E27FC236}">
                <a16:creationId xmlns:a16="http://schemas.microsoft.com/office/drawing/2014/main" id="{121D8548-2D40-9F83-17C8-E9F5C4A70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0113" y="253823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1" name="AutoShape 150">
            <a:extLst>
              <a:ext uri="{FF2B5EF4-FFF2-40B4-BE49-F238E27FC236}">
                <a16:creationId xmlns:a16="http://schemas.microsoft.com/office/drawing/2014/main" id="{922F640C-9F8E-840D-7DC9-EB19DC332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2395" y="2141982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2" name="AutoShape 150">
            <a:extLst>
              <a:ext uri="{FF2B5EF4-FFF2-40B4-BE49-F238E27FC236}">
                <a16:creationId xmlns:a16="http://schemas.microsoft.com/office/drawing/2014/main" id="{D21AFE59-419C-024E-D1C6-B29D94F40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882" y="167678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3" name="AutoShape 150">
            <a:extLst>
              <a:ext uri="{FF2B5EF4-FFF2-40B4-BE49-F238E27FC236}">
                <a16:creationId xmlns:a16="http://schemas.microsoft.com/office/drawing/2014/main" id="{880B8447-5C9F-FD48-FFA8-86F99B8F1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3029" y="20681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4" name="AutoShape 150">
            <a:extLst>
              <a:ext uri="{FF2B5EF4-FFF2-40B4-BE49-F238E27FC236}">
                <a16:creationId xmlns:a16="http://schemas.microsoft.com/office/drawing/2014/main" id="{40FF1EBA-8B90-2931-824F-ABA118CC0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287" y="405685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50">
            <a:extLst>
              <a:ext uri="{FF2B5EF4-FFF2-40B4-BE49-F238E27FC236}">
                <a16:creationId xmlns:a16="http://schemas.microsoft.com/office/drawing/2014/main" id="{9C0833B6-3EA6-A2FA-32F7-BEC5ADE64E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9857" y="214987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utoShape 150">
            <a:extLst>
              <a:ext uri="{FF2B5EF4-FFF2-40B4-BE49-F238E27FC236}">
                <a16:creationId xmlns:a16="http://schemas.microsoft.com/office/drawing/2014/main" id="{90AD9680-3367-E97A-1A5A-089D5318E3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058" y="2643435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AutoShape 150">
            <a:extLst>
              <a:ext uri="{FF2B5EF4-FFF2-40B4-BE49-F238E27FC236}">
                <a16:creationId xmlns:a16="http://schemas.microsoft.com/office/drawing/2014/main" id="{B74EF668-7F9C-BBC7-D3E3-57634430A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1813" y="26209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AutoShape 150">
            <a:extLst>
              <a:ext uri="{FF2B5EF4-FFF2-40B4-BE49-F238E27FC236}">
                <a16:creationId xmlns:a16="http://schemas.microsoft.com/office/drawing/2014/main" id="{84B04804-C741-2FD2-6F4D-B9E581D0A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7013" y="285591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AutoShape 150">
            <a:extLst>
              <a:ext uri="{FF2B5EF4-FFF2-40B4-BE49-F238E27FC236}">
                <a16:creationId xmlns:a16="http://schemas.microsoft.com/office/drawing/2014/main" id="{14D5CB03-784C-7034-3F88-062DD188C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947" y="2130001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AutoShape 150">
            <a:extLst>
              <a:ext uri="{FF2B5EF4-FFF2-40B4-BE49-F238E27FC236}">
                <a16:creationId xmlns:a16="http://schemas.microsoft.com/office/drawing/2014/main" id="{2B2C91E0-77B8-804F-A5A3-7E7D95F6D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942" y="1485900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" name="AutoShape 150">
            <a:extLst>
              <a:ext uri="{FF2B5EF4-FFF2-40B4-BE49-F238E27FC236}">
                <a16:creationId xmlns:a16="http://schemas.microsoft.com/office/drawing/2014/main" id="{0AB5DFA6-093E-1EA4-4794-FC4C94447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7" y="501651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2" name="AutoShape 150">
            <a:extLst>
              <a:ext uri="{FF2B5EF4-FFF2-40B4-BE49-F238E27FC236}">
                <a16:creationId xmlns:a16="http://schemas.microsoft.com/office/drawing/2014/main" id="{56AB4D75-0337-8309-4255-D02A037EB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0205" y="9350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3" name="AutoShape 150">
            <a:extLst>
              <a:ext uri="{FF2B5EF4-FFF2-40B4-BE49-F238E27FC236}">
                <a16:creationId xmlns:a16="http://schemas.microsoft.com/office/drawing/2014/main" id="{85E438FF-D6D6-6721-E2D4-F01F7F4020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013" y="128071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4" name="AutoShape 150">
            <a:extLst>
              <a:ext uri="{FF2B5EF4-FFF2-40B4-BE49-F238E27FC236}">
                <a16:creationId xmlns:a16="http://schemas.microsoft.com/office/drawing/2014/main" id="{621B486E-AFBB-9150-BB97-200740C470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2833" y="41957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5" name="AutoShape 150">
            <a:extLst>
              <a:ext uri="{FF2B5EF4-FFF2-40B4-BE49-F238E27FC236}">
                <a16:creationId xmlns:a16="http://schemas.microsoft.com/office/drawing/2014/main" id="{E1022308-E986-D8A6-D8CB-BBA812A8BA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830" y="343217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8" name="Text Box 32"/>
          <p:cNvSpPr txBox="1">
            <a:spLocks noChangeArrowheads="1"/>
          </p:cNvSpPr>
          <p:nvPr/>
        </p:nvSpPr>
        <p:spPr bwMode="auto">
          <a:xfrm>
            <a:off x="4597400" y="2505075"/>
            <a:ext cx="104140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Administration </a:t>
            </a:r>
          </a:p>
        </p:txBody>
      </p:sp>
      <p:sp>
        <p:nvSpPr>
          <p:cNvPr id="4139" name="Text Box 43"/>
          <p:cNvSpPr txBox="1">
            <a:spLocks noChangeArrowheads="1"/>
          </p:cNvSpPr>
          <p:nvPr/>
        </p:nvSpPr>
        <p:spPr bwMode="auto">
          <a:xfrm>
            <a:off x="6051550" y="23685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Rb</a:t>
            </a:r>
          </a:p>
        </p:txBody>
      </p:sp>
      <p:sp>
        <p:nvSpPr>
          <p:cNvPr id="4166" name="Text Box 70"/>
          <p:cNvSpPr txBox="1">
            <a:spLocks noChangeArrowheads="1"/>
          </p:cNvSpPr>
          <p:nvPr/>
        </p:nvSpPr>
        <p:spPr bwMode="auto">
          <a:xfrm>
            <a:off x="5688013" y="2362200"/>
            <a:ext cx="40640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(20)</a:t>
            </a:r>
          </a:p>
        </p:txBody>
      </p:sp>
      <p:sp>
        <p:nvSpPr>
          <p:cNvPr id="4097" name="Oval 1"/>
          <p:cNvSpPr>
            <a:spLocks noChangeArrowheads="1"/>
          </p:cNvSpPr>
          <p:nvPr/>
        </p:nvSpPr>
        <p:spPr bwMode="auto">
          <a:xfrm>
            <a:off x="4208463" y="24812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98" name="Oval 2"/>
          <p:cNvSpPr>
            <a:spLocks noChangeArrowheads="1"/>
          </p:cNvSpPr>
          <p:nvPr/>
        </p:nvSpPr>
        <p:spPr bwMode="auto">
          <a:xfrm>
            <a:off x="4208463" y="24812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3986213" y="2543175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Ne</a:t>
            </a:r>
          </a:p>
        </p:txBody>
      </p:sp>
      <p:sp>
        <p:nvSpPr>
          <p:cNvPr id="4100" name="Oval 4"/>
          <p:cNvSpPr>
            <a:spLocks noChangeArrowheads="1"/>
          </p:cNvSpPr>
          <p:nvPr/>
        </p:nvSpPr>
        <p:spPr bwMode="auto">
          <a:xfrm>
            <a:off x="6450013" y="3333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1" name="Text Box 5"/>
          <p:cNvSpPr txBox="1">
            <a:spLocks noChangeArrowheads="1"/>
          </p:cNvSpPr>
          <p:nvPr/>
        </p:nvSpPr>
        <p:spPr bwMode="auto">
          <a:xfrm>
            <a:off x="6542088" y="384175"/>
            <a:ext cx="3048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Xe</a:t>
            </a:r>
          </a:p>
        </p:txBody>
      </p:sp>
      <p:sp>
        <p:nvSpPr>
          <p:cNvPr id="4102" name="AutoShape 6"/>
          <p:cNvSpPr>
            <a:spLocks noChangeArrowheads="1"/>
          </p:cNvSpPr>
          <p:nvPr/>
        </p:nvSpPr>
        <p:spPr bwMode="auto">
          <a:xfrm>
            <a:off x="5740400" y="663575"/>
            <a:ext cx="2946400" cy="1978025"/>
          </a:xfrm>
          <a:prstGeom prst="roundRect">
            <a:avLst>
              <a:gd name="adj" fmla="val 79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3" name="AutoShape 7"/>
          <p:cNvSpPr>
            <a:spLocks noChangeArrowheads="1"/>
          </p:cNvSpPr>
          <p:nvPr/>
        </p:nvSpPr>
        <p:spPr bwMode="auto">
          <a:xfrm>
            <a:off x="7416800" y="1168400"/>
            <a:ext cx="1054100" cy="596900"/>
          </a:xfrm>
          <a:prstGeom prst="roundRect">
            <a:avLst>
              <a:gd name="adj" fmla="val 26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4" name="AutoShape 8"/>
          <p:cNvSpPr>
            <a:spLocks noChangeArrowheads="1"/>
          </p:cNvSpPr>
          <p:nvPr/>
        </p:nvSpPr>
        <p:spPr bwMode="auto">
          <a:xfrm>
            <a:off x="4991100" y="2055813"/>
            <a:ext cx="749300" cy="333375"/>
          </a:xfrm>
          <a:prstGeom prst="roundRect">
            <a:avLst>
              <a:gd name="adj" fmla="val 472"/>
            </a:avLst>
          </a:prstGeom>
          <a:noFill/>
          <a:ln w="108000" cap="flat">
            <a:solidFill>
              <a:srgbClr val="B2B2B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5" name="AutoShape 9"/>
          <p:cNvSpPr>
            <a:spLocks noChangeArrowheads="1"/>
          </p:cNvSpPr>
          <p:nvPr/>
        </p:nvSpPr>
        <p:spPr bwMode="auto">
          <a:xfrm>
            <a:off x="4686300" y="663575"/>
            <a:ext cx="1054100" cy="1393825"/>
          </a:xfrm>
          <a:prstGeom prst="roundRect">
            <a:avLst>
              <a:gd name="adj" fmla="val 14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6" name="Text Box 10"/>
          <p:cNvSpPr txBox="1">
            <a:spLocks noChangeArrowheads="1"/>
          </p:cNvSpPr>
          <p:nvPr/>
        </p:nvSpPr>
        <p:spPr bwMode="auto">
          <a:xfrm>
            <a:off x="5183188" y="2101850"/>
            <a:ext cx="590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/>
              <a:t>Accueil</a:t>
            </a:r>
          </a:p>
        </p:txBody>
      </p:sp>
      <p:sp>
        <p:nvSpPr>
          <p:cNvPr id="4107" name="AutoShape 11"/>
          <p:cNvSpPr>
            <a:spLocks noChangeArrowheads="1"/>
          </p:cNvSpPr>
          <p:nvPr/>
        </p:nvSpPr>
        <p:spPr bwMode="auto">
          <a:xfrm>
            <a:off x="5740400" y="663575"/>
            <a:ext cx="1092200" cy="1978025"/>
          </a:xfrm>
          <a:prstGeom prst="roundRect">
            <a:avLst>
              <a:gd name="adj" fmla="val 14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9" name="Text Box 13"/>
          <p:cNvSpPr txBox="1">
            <a:spLocks noChangeArrowheads="1"/>
          </p:cNvSpPr>
          <p:nvPr/>
        </p:nvSpPr>
        <p:spPr bwMode="auto">
          <a:xfrm>
            <a:off x="3473450" y="2154238"/>
            <a:ext cx="12985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Parking visiteurs</a:t>
            </a:r>
          </a:p>
        </p:txBody>
      </p:sp>
      <p:sp>
        <p:nvSpPr>
          <p:cNvPr id="4110" name="Line 14"/>
          <p:cNvSpPr>
            <a:spLocks noChangeShapeType="1"/>
          </p:cNvSpPr>
          <p:nvPr/>
        </p:nvSpPr>
        <p:spPr bwMode="auto">
          <a:xfrm flipH="1">
            <a:off x="3381375" y="2057400"/>
            <a:ext cx="1306513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11" name="Text Box 15"/>
          <p:cNvSpPr txBox="1">
            <a:spLocks noChangeArrowheads="1"/>
          </p:cNvSpPr>
          <p:nvPr/>
        </p:nvSpPr>
        <p:spPr bwMode="auto">
          <a:xfrm>
            <a:off x="3563145" y="1546679"/>
            <a:ext cx="7699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Sas XTRA</a:t>
            </a:r>
            <a:endParaRPr lang="fr-FR" sz="800" dirty="0"/>
          </a:p>
        </p:txBody>
      </p:sp>
      <p:sp>
        <p:nvSpPr>
          <p:cNvPr id="4112" name="AutoShape 16"/>
          <p:cNvSpPr>
            <a:spLocks noChangeArrowheads="1"/>
          </p:cNvSpPr>
          <p:nvPr/>
        </p:nvSpPr>
        <p:spPr bwMode="auto">
          <a:xfrm>
            <a:off x="3413125" y="1566763"/>
            <a:ext cx="139700" cy="147637"/>
          </a:xfrm>
          <a:prstGeom prst="diamond">
            <a:avLst/>
          </a:prstGeom>
          <a:solidFill>
            <a:srgbClr val="000000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5" name="AutoShape 19"/>
          <p:cNvSpPr>
            <a:spLocks noChangeArrowheads="1"/>
          </p:cNvSpPr>
          <p:nvPr/>
        </p:nvSpPr>
        <p:spPr bwMode="auto">
          <a:xfrm>
            <a:off x="5740400" y="663575"/>
            <a:ext cx="1785938" cy="1978025"/>
          </a:xfrm>
          <a:prstGeom prst="roundRect">
            <a:avLst>
              <a:gd name="adj" fmla="val 8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6" name="AutoShape 20"/>
          <p:cNvSpPr>
            <a:spLocks noChangeArrowheads="1"/>
          </p:cNvSpPr>
          <p:nvPr/>
        </p:nvSpPr>
        <p:spPr bwMode="auto">
          <a:xfrm>
            <a:off x="4686300" y="663575"/>
            <a:ext cx="1054100" cy="758825"/>
          </a:xfrm>
          <a:prstGeom prst="roundRect">
            <a:avLst>
              <a:gd name="adj" fmla="val 20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7" name="Text Box 21"/>
          <p:cNvSpPr txBox="1">
            <a:spLocks noChangeArrowheads="1"/>
          </p:cNvSpPr>
          <p:nvPr/>
        </p:nvSpPr>
        <p:spPr bwMode="auto">
          <a:xfrm>
            <a:off x="4887913" y="871538"/>
            <a:ext cx="3778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PT</a:t>
            </a:r>
          </a:p>
        </p:txBody>
      </p:sp>
      <p:sp>
        <p:nvSpPr>
          <p:cNvPr id="4118" name="Text Box 22"/>
          <p:cNvSpPr txBox="1">
            <a:spLocks noChangeArrowheads="1"/>
          </p:cNvSpPr>
          <p:nvPr/>
        </p:nvSpPr>
        <p:spPr bwMode="auto">
          <a:xfrm>
            <a:off x="6407150" y="1177925"/>
            <a:ext cx="37623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U1</a:t>
            </a:r>
          </a:p>
        </p:txBody>
      </p:sp>
      <p:sp>
        <p:nvSpPr>
          <p:cNvPr id="4119" name="Line 23"/>
          <p:cNvSpPr>
            <a:spLocks noChangeShapeType="1"/>
          </p:cNvSpPr>
          <p:nvPr/>
        </p:nvSpPr>
        <p:spPr bwMode="auto">
          <a:xfrm>
            <a:off x="5334000" y="2398713"/>
            <a:ext cx="139700" cy="1587"/>
          </a:xfrm>
          <a:prstGeom prst="line">
            <a:avLst/>
          </a:prstGeom>
          <a:noFill/>
          <a:ln w="7200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20" name="Text Box 24"/>
          <p:cNvSpPr txBox="1">
            <a:spLocks noChangeArrowheads="1"/>
          </p:cNvSpPr>
          <p:nvPr/>
        </p:nvSpPr>
        <p:spPr bwMode="auto">
          <a:xfrm>
            <a:off x="4959350" y="1555750"/>
            <a:ext cx="40163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PO</a:t>
            </a:r>
          </a:p>
        </p:txBody>
      </p:sp>
      <p:sp>
        <p:nvSpPr>
          <p:cNvPr id="4121" name="AutoShape 25"/>
          <p:cNvSpPr>
            <a:spLocks noChangeArrowheads="1"/>
          </p:cNvSpPr>
          <p:nvPr/>
        </p:nvSpPr>
        <p:spPr bwMode="auto">
          <a:xfrm>
            <a:off x="5751513" y="2028825"/>
            <a:ext cx="274637" cy="276225"/>
          </a:xfrm>
          <a:prstGeom prst="roundRect">
            <a:avLst>
              <a:gd name="adj" fmla="val 579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2" name="Text Box 26"/>
          <p:cNvSpPr txBox="1">
            <a:spLocks noChangeArrowheads="1"/>
          </p:cNvSpPr>
          <p:nvPr/>
        </p:nvSpPr>
        <p:spPr bwMode="auto">
          <a:xfrm>
            <a:off x="6294437" y="2286148"/>
            <a:ext cx="1147763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Salle de contrôle</a:t>
            </a:r>
          </a:p>
        </p:txBody>
      </p:sp>
      <p:sp>
        <p:nvSpPr>
          <p:cNvPr id="4123" name="AutoShape 27"/>
          <p:cNvSpPr>
            <a:spLocks noChangeArrowheads="1"/>
          </p:cNvSpPr>
          <p:nvPr/>
        </p:nvSpPr>
        <p:spPr bwMode="auto">
          <a:xfrm>
            <a:off x="6128544" y="581819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4" name="Line 28"/>
          <p:cNvSpPr>
            <a:spLocks noChangeShapeType="1"/>
          </p:cNvSpPr>
          <p:nvPr/>
        </p:nvSpPr>
        <p:spPr bwMode="auto">
          <a:xfrm flipH="1">
            <a:off x="3427413" y="2057400"/>
            <a:ext cx="1223962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25" name="AutoShape 29"/>
          <p:cNvSpPr>
            <a:spLocks noChangeArrowheads="1"/>
          </p:cNvSpPr>
          <p:nvPr/>
        </p:nvSpPr>
        <p:spPr bwMode="auto">
          <a:xfrm>
            <a:off x="7537450" y="2032000"/>
            <a:ext cx="1149350" cy="612775"/>
          </a:xfrm>
          <a:prstGeom prst="roundRect">
            <a:avLst>
              <a:gd name="adj" fmla="val 255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7" name="AutoShape 31"/>
          <p:cNvSpPr>
            <a:spLocks noChangeArrowheads="1"/>
          </p:cNvSpPr>
          <p:nvPr/>
        </p:nvSpPr>
        <p:spPr bwMode="auto">
          <a:xfrm>
            <a:off x="5740400" y="2303463"/>
            <a:ext cx="285750" cy="338137"/>
          </a:xfrm>
          <a:prstGeom prst="roundRect">
            <a:avLst>
              <a:gd name="adj" fmla="val 55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9" name="Line 33"/>
          <p:cNvSpPr>
            <a:spLocks noChangeShapeType="1"/>
          </p:cNvSpPr>
          <p:nvPr/>
        </p:nvSpPr>
        <p:spPr bwMode="auto">
          <a:xfrm>
            <a:off x="5895975" y="2219535"/>
            <a:ext cx="435879" cy="209339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30" name="AutoShape 34"/>
          <p:cNvSpPr>
            <a:spLocks noChangeArrowheads="1"/>
          </p:cNvSpPr>
          <p:nvPr/>
        </p:nvSpPr>
        <p:spPr bwMode="auto">
          <a:xfrm>
            <a:off x="7572375" y="601663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31" name="AutoShape 35"/>
          <p:cNvSpPr>
            <a:spLocks noChangeArrowheads="1"/>
          </p:cNvSpPr>
          <p:nvPr/>
        </p:nvSpPr>
        <p:spPr bwMode="auto">
          <a:xfrm>
            <a:off x="7751763" y="1971675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33" name="Text Box 37"/>
          <p:cNvSpPr txBox="1">
            <a:spLocks noChangeArrowheads="1"/>
          </p:cNvSpPr>
          <p:nvPr/>
        </p:nvSpPr>
        <p:spPr bwMode="auto">
          <a:xfrm>
            <a:off x="7789863" y="1336675"/>
            <a:ext cx="376237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U2</a:t>
            </a:r>
          </a:p>
        </p:txBody>
      </p:sp>
      <p:sp>
        <p:nvSpPr>
          <p:cNvPr id="4134" name="Text Box 38"/>
          <p:cNvSpPr txBox="1">
            <a:spLocks noChangeArrowheads="1"/>
          </p:cNvSpPr>
          <p:nvPr/>
        </p:nvSpPr>
        <p:spPr bwMode="auto">
          <a:xfrm>
            <a:off x="7704138" y="714375"/>
            <a:ext cx="41751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DM</a:t>
            </a:r>
          </a:p>
        </p:txBody>
      </p:sp>
      <p:sp>
        <p:nvSpPr>
          <p:cNvPr id="4136" name="Text Box 40"/>
          <p:cNvSpPr txBox="1">
            <a:spLocks noChangeArrowheads="1"/>
          </p:cNvSpPr>
          <p:nvPr/>
        </p:nvSpPr>
        <p:spPr bwMode="auto">
          <a:xfrm>
            <a:off x="5291138" y="1803400"/>
            <a:ext cx="2603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Li</a:t>
            </a:r>
          </a:p>
        </p:txBody>
      </p:sp>
      <p:sp>
        <p:nvSpPr>
          <p:cNvPr id="4137" name="Text Box 41"/>
          <p:cNvSpPr txBox="1">
            <a:spLocks noChangeArrowheads="1"/>
          </p:cNvSpPr>
          <p:nvPr/>
        </p:nvSpPr>
        <p:spPr bwMode="auto">
          <a:xfrm>
            <a:off x="6048375" y="723900"/>
            <a:ext cx="3000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Fe</a:t>
            </a:r>
          </a:p>
        </p:txBody>
      </p:sp>
      <p:sp>
        <p:nvSpPr>
          <p:cNvPr id="4138" name="Text Box 42"/>
          <p:cNvSpPr txBox="1">
            <a:spLocks noChangeArrowheads="1"/>
          </p:cNvSpPr>
          <p:nvPr/>
        </p:nvSpPr>
        <p:spPr bwMode="auto">
          <a:xfrm>
            <a:off x="5332413" y="150495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Na</a:t>
            </a:r>
          </a:p>
        </p:txBody>
      </p:sp>
      <p:sp>
        <p:nvSpPr>
          <p:cNvPr id="4140" name="Text Box 44"/>
          <p:cNvSpPr txBox="1">
            <a:spLocks noChangeArrowheads="1"/>
          </p:cNvSpPr>
          <p:nvPr/>
        </p:nvSpPr>
        <p:spPr bwMode="auto">
          <a:xfrm>
            <a:off x="5403850" y="712788"/>
            <a:ext cx="306388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Cs</a:t>
            </a:r>
          </a:p>
        </p:txBody>
      </p:sp>
      <p:sp>
        <p:nvSpPr>
          <p:cNvPr id="4141" name="Text Box 45"/>
          <p:cNvSpPr txBox="1">
            <a:spLocks noChangeArrowheads="1"/>
          </p:cNvSpPr>
          <p:nvPr/>
        </p:nvSpPr>
        <p:spPr bwMode="auto">
          <a:xfrm>
            <a:off x="6796088" y="739775"/>
            <a:ext cx="3222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Mn</a:t>
            </a:r>
          </a:p>
        </p:txBody>
      </p:sp>
      <p:sp>
        <p:nvSpPr>
          <p:cNvPr id="4142" name="Text Box 46"/>
          <p:cNvSpPr txBox="1">
            <a:spLocks noChangeArrowheads="1"/>
          </p:cNvSpPr>
          <p:nvPr/>
        </p:nvSpPr>
        <p:spPr bwMode="auto">
          <a:xfrm>
            <a:off x="7191375" y="131603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De</a:t>
            </a:r>
          </a:p>
        </p:txBody>
      </p:sp>
      <p:sp>
        <p:nvSpPr>
          <p:cNvPr id="4143" name="Oval 47"/>
          <p:cNvSpPr>
            <a:spLocks noChangeArrowheads="1"/>
          </p:cNvSpPr>
          <p:nvPr/>
        </p:nvSpPr>
        <p:spPr bwMode="auto">
          <a:xfrm>
            <a:off x="8491538" y="788988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4" name="Text Box 48"/>
          <p:cNvSpPr txBox="1">
            <a:spLocks noChangeArrowheads="1"/>
          </p:cNvSpPr>
          <p:nvPr/>
        </p:nvSpPr>
        <p:spPr bwMode="auto">
          <a:xfrm>
            <a:off x="8269288" y="850900"/>
            <a:ext cx="28257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Ar</a:t>
            </a:r>
          </a:p>
        </p:txBody>
      </p:sp>
      <p:sp>
        <p:nvSpPr>
          <p:cNvPr id="4145" name="Oval 49"/>
          <p:cNvSpPr>
            <a:spLocks noChangeArrowheads="1"/>
          </p:cNvSpPr>
          <p:nvPr/>
        </p:nvSpPr>
        <p:spPr bwMode="auto">
          <a:xfrm>
            <a:off x="7915275" y="2301875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6" name="Oval 50"/>
          <p:cNvSpPr>
            <a:spLocks noChangeArrowheads="1"/>
          </p:cNvSpPr>
          <p:nvPr/>
        </p:nvSpPr>
        <p:spPr bwMode="auto">
          <a:xfrm>
            <a:off x="7916863" y="23018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7" name="Text Box 51"/>
          <p:cNvSpPr txBox="1">
            <a:spLocks noChangeArrowheads="1"/>
          </p:cNvSpPr>
          <p:nvPr/>
        </p:nvSpPr>
        <p:spPr bwMode="auto">
          <a:xfrm>
            <a:off x="7693025" y="2363788"/>
            <a:ext cx="2825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Kr</a:t>
            </a:r>
          </a:p>
        </p:txBody>
      </p:sp>
      <p:sp>
        <p:nvSpPr>
          <p:cNvPr id="4148" name="AutoShape 52"/>
          <p:cNvSpPr>
            <a:spLocks noChangeArrowheads="1"/>
          </p:cNvSpPr>
          <p:nvPr/>
        </p:nvSpPr>
        <p:spPr bwMode="auto">
          <a:xfrm>
            <a:off x="5688013" y="2089150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9" name="Oval 53"/>
          <p:cNvSpPr>
            <a:spLocks noChangeArrowheads="1"/>
          </p:cNvSpPr>
          <p:nvPr/>
        </p:nvSpPr>
        <p:spPr bwMode="auto">
          <a:xfrm>
            <a:off x="4978400" y="2062163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0" name="Text Box 54"/>
          <p:cNvSpPr txBox="1">
            <a:spLocks noChangeArrowheads="1"/>
          </p:cNvSpPr>
          <p:nvPr/>
        </p:nvSpPr>
        <p:spPr bwMode="auto">
          <a:xfrm>
            <a:off x="4972050" y="217328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Rn</a:t>
            </a:r>
          </a:p>
        </p:txBody>
      </p:sp>
      <p:sp>
        <p:nvSpPr>
          <p:cNvPr id="4151" name="Oval 55"/>
          <p:cNvSpPr>
            <a:spLocks noChangeArrowheads="1"/>
          </p:cNvSpPr>
          <p:nvPr/>
        </p:nvSpPr>
        <p:spPr bwMode="auto">
          <a:xfrm>
            <a:off x="3425825" y="1774825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2" name="Text Box 56"/>
          <p:cNvSpPr txBox="1">
            <a:spLocks noChangeArrowheads="1"/>
          </p:cNvSpPr>
          <p:nvPr/>
        </p:nvSpPr>
        <p:spPr bwMode="auto">
          <a:xfrm>
            <a:off x="3563300" y="1741034"/>
            <a:ext cx="88741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caméra externe</a:t>
            </a:r>
          </a:p>
        </p:txBody>
      </p:sp>
      <p:sp>
        <p:nvSpPr>
          <p:cNvPr id="4153" name="Text Box 57"/>
          <p:cNvSpPr txBox="1">
            <a:spLocks noChangeArrowheads="1"/>
          </p:cNvSpPr>
          <p:nvPr/>
        </p:nvSpPr>
        <p:spPr bwMode="auto">
          <a:xfrm>
            <a:off x="3732213" y="333375"/>
            <a:ext cx="14700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Parkings employés</a:t>
            </a:r>
          </a:p>
        </p:txBody>
      </p:sp>
      <p:sp>
        <p:nvSpPr>
          <p:cNvPr id="4154" name="Text Box 58"/>
          <p:cNvSpPr txBox="1">
            <a:spLocks noChangeArrowheads="1"/>
          </p:cNvSpPr>
          <p:nvPr/>
        </p:nvSpPr>
        <p:spPr bwMode="auto">
          <a:xfrm>
            <a:off x="5402262" y="4070350"/>
            <a:ext cx="1444625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60876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dirty="0" err="1"/>
              <a:t>Morrocoy</a:t>
            </a:r>
            <a:endParaRPr lang="fr-FR" dirty="0"/>
          </a:p>
        </p:txBody>
      </p:sp>
      <p:sp>
        <p:nvSpPr>
          <p:cNvPr id="4158" name="AutoShape 62"/>
          <p:cNvSpPr>
            <a:spLocks noChangeArrowheads="1"/>
          </p:cNvSpPr>
          <p:nvPr/>
        </p:nvSpPr>
        <p:spPr bwMode="auto">
          <a:xfrm>
            <a:off x="7464425" y="1358900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9" name="Text Box 63"/>
          <p:cNvSpPr txBox="1">
            <a:spLocks noChangeArrowheads="1"/>
          </p:cNvSpPr>
          <p:nvPr/>
        </p:nvSpPr>
        <p:spPr bwMode="auto">
          <a:xfrm>
            <a:off x="8077200" y="2128838"/>
            <a:ext cx="2825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X</a:t>
            </a:r>
          </a:p>
        </p:txBody>
      </p:sp>
      <p:sp>
        <p:nvSpPr>
          <p:cNvPr id="4160" name="Text Box 64"/>
          <p:cNvSpPr txBox="1">
            <a:spLocks noChangeArrowheads="1"/>
          </p:cNvSpPr>
          <p:nvPr/>
        </p:nvSpPr>
        <p:spPr bwMode="auto">
          <a:xfrm>
            <a:off x="4862513" y="1087438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(60)</a:t>
            </a:r>
          </a:p>
        </p:txBody>
      </p:sp>
      <p:sp>
        <p:nvSpPr>
          <p:cNvPr id="4161" name="Text Box 65"/>
          <p:cNvSpPr txBox="1">
            <a:spLocks noChangeArrowheads="1"/>
          </p:cNvSpPr>
          <p:nvPr/>
        </p:nvSpPr>
        <p:spPr bwMode="auto">
          <a:xfrm>
            <a:off x="4970463" y="1735138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(60)</a:t>
            </a:r>
          </a:p>
        </p:txBody>
      </p:sp>
      <p:sp>
        <p:nvSpPr>
          <p:cNvPr id="4162" name="Text Box 66"/>
          <p:cNvSpPr txBox="1">
            <a:spLocks noChangeArrowheads="1"/>
          </p:cNvSpPr>
          <p:nvPr/>
        </p:nvSpPr>
        <p:spPr bwMode="auto">
          <a:xfrm>
            <a:off x="8050212" y="2305050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(2)</a:t>
            </a:r>
          </a:p>
        </p:txBody>
      </p:sp>
      <p:sp>
        <p:nvSpPr>
          <p:cNvPr id="4163" name="Text Box 67"/>
          <p:cNvSpPr txBox="1">
            <a:spLocks noChangeArrowheads="1"/>
          </p:cNvSpPr>
          <p:nvPr/>
        </p:nvSpPr>
        <p:spPr bwMode="auto">
          <a:xfrm>
            <a:off x="7775575" y="863600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(5)</a:t>
            </a:r>
          </a:p>
        </p:txBody>
      </p:sp>
      <p:sp>
        <p:nvSpPr>
          <p:cNvPr id="4164" name="Text Box 68"/>
          <p:cNvSpPr txBox="1">
            <a:spLocks noChangeArrowheads="1"/>
          </p:cNvSpPr>
          <p:nvPr/>
        </p:nvSpPr>
        <p:spPr bwMode="auto">
          <a:xfrm>
            <a:off x="6356350" y="1357313"/>
            <a:ext cx="477838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/>
              <a:t>(500)</a:t>
            </a:r>
          </a:p>
        </p:txBody>
      </p:sp>
      <p:sp>
        <p:nvSpPr>
          <p:cNvPr id="4165" name="Text Box 69"/>
          <p:cNvSpPr txBox="1">
            <a:spLocks noChangeArrowheads="1"/>
          </p:cNvSpPr>
          <p:nvPr/>
        </p:nvSpPr>
        <p:spPr bwMode="auto">
          <a:xfrm>
            <a:off x="7800975" y="1497013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(10)</a:t>
            </a:r>
          </a:p>
        </p:txBody>
      </p:sp>
      <p:sp>
        <p:nvSpPr>
          <p:cNvPr id="4167" name="Text Box 71"/>
          <p:cNvSpPr txBox="1">
            <a:spLocks noChangeArrowheads="1"/>
          </p:cNvSpPr>
          <p:nvPr/>
        </p:nvSpPr>
        <p:spPr bwMode="auto">
          <a:xfrm>
            <a:off x="5738813" y="2044700"/>
            <a:ext cx="336550" cy="246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(4)</a:t>
            </a:r>
          </a:p>
        </p:txBody>
      </p:sp>
      <p:sp>
        <p:nvSpPr>
          <p:cNvPr id="4168" name="Text Box 72"/>
          <p:cNvSpPr txBox="1">
            <a:spLocks noChangeArrowheads="1"/>
          </p:cNvSpPr>
          <p:nvPr/>
        </p:nvSpPr>
        <p:spPr bwMode="auto">
          <a:xfrm>
            <a:off x="7480300" y="415925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Cd</a:t>
            </a:r>
          </a:p>
        </p:txBody>
      </p:sp>
      <p:sp>
        <p:nvSpPr>
          <p:cNvPr id="4169" name="Text Box 73"/>
          <p:cNvSpPr txBox="1">
            <a:spLocks noChangeArrowheads="1"/>
          </p:cNvSpPr>
          <p:nvPr/>
        </p:nvSpPr>
        <p:spPr bwMode="auto">
          <a:xfrm>
            <a:off x="7804150" y="1820863"/>
            <a:ext cx="306388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Cs</a:t>
            </a:r>
          </a:p>
        </p:txBody>
      </p:sp>
      <p:sp>
        <p:nvSpPr>
          <p:cNvPr id="4170" name="Text Box 74"/>
          <p:cNvSpPr txBox="1">
            <a:spLocks noChangeArrowheads="1"/>
          </p:cNvSpPr>
          <p:nvPr/>
        </p:nvSpPr>
        <p:spPr bwMode="auto">
          <a:xfrm>
            <a:off x="8148638" y="1320800"/>
            <a:ext cx="279400" cy="376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1" name="Text Box 75"/>
          <p:cNvSpPr txBox="1">
            <a:spLocks noChangeArrowheads="1"/>
          </p:cNvSpPr>
          <p:nvPr/>
        </p:nvSpPr>
        <p:spPr bwMode="auto">
          <a:xfrm>
            <a:off x="6745288" y="1176338"/>
            <a:ext cx="279400" cy="376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2" name="Text Box 76"/>
          <p:cNvSpPr txBox="1">
            <a:spLocks noChangeArrowheads="1"/>
          </p:cNvSpPr>
          <p:nvPr/>
        </p:nvSpPr>
        <p:spPr bwMode="auto">
          <a:xfrm>
            <a:off x="7969250" y="2149475"/>
            <a:ext cx="531813" cy="246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 dirty="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3" name="Text Box 77"/>
          <p:cNvSpPr txBox="1">
            <a:spLocks noChangeArrowheads="1"/>
          </p:cNvSpPr>
          <p:nvPr/>
        </p:nvSpPr>
        <p:spPr bwMode="auto">
          <a:xfrm>
            <a:off x="3351212" y="1300163"/>
            <a:ext cx="279400" cy="376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 dirty="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4" name="Text Box 78"/>
          <p:cNvSpPr txBox="1">
            <a:spLocks noChangeArrowheads="1"/>
          </p:cNvSpPr>
          <p:nvPr/>
        </p:nvSpPr>
        <p:spPr bwMode="auto">
          <a:xfrm>
            <a:off x="3564278" y="1349727"/>
            <a:ext cx="5429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zone  IL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1644373-F2B7-9B43-9D51-C5DA66E88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192" y="1347913"/>
            <a:ext cx="152400" cy="165100"/>
          </a:xfrm>
          <a:prstGeom prst="rect">
            <a:avLst/>
          </a:prstGeom>
        </p:spPr>
      </p:pic>
      <p:sp>
        <p:nvSpPr>
          <p:cNvPr id="83" name="AutoShape 27">
            <a:extLst>
              <a:ext uri="{FF2B5EF4-FFF2-40B4-BE49-F238E27FC236}">
                <a16:creationId xmlns:a16="http://schemas.microsoft.com/office/drawing/2014/main" id="{F1C6C800-386C-2B4F-81A8-C6AF1A37A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2621" y="1982746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4" name="AutoShape 27">
            <a:extLst>
              <a:ext uri="{FF2B5EF4-FFF2-40B4-BE49-F238E27FC236}">
                <a16:creationId xmlns:a16="http://schemas.microsoft.com/office/drawing/2014/main" id="{75035E61-DF57-DE49-80EA-1977D2773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8123" y="570707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5" name="AutoShape 27">
            <a:extLst>
              <a:ext uri="{FF2B5EF4-FFF2-40B4-BE49-F238E27FC236}">
                <a16:creationId xmlns:a16="http://schemas.microsoft.com/office/drawing/2014/main" id="{A9741423-4B15-E543-AF99-2BFE59D5D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4875" y="2097088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6" name="AutoShape 27">
            <a:extLst>
              <a:ext uri="{FF2B5EF4-FFF2-40B4-BE49-F238E27FC236}">
                <a16:creationId xmlns:a16="http://schemas.microsoft.com/office/drawing/2014/main" id="{2168A3A7-FB78-9C40-8D09-A42CE3590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8100" y="581651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7" name="AutoShape 27">
            <a:extLst>
              <a:ext uri="{FF2B5EF4-FFF2-40B4-BE49-F238E27FC236}">
                <a16:creationId xmlns:a16="http://schemas.microsoft.com/office/drawing/2014/main" id="{520C11E6-B6AA-7843-87EF-F3A2CA5D2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193" y="2398367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6" name="Line 30"/>
          <p:cNvSpPr>
            <a:spLocks noChangeShapeType="1"/>
          </p:cNvSpPr>
          <p:nvPr/>
        </p:nvSpPr>
        <p:spPr bwMode="auto">
          <a:xfrm flipV="1">
            <a:off x="5545138" y="2543174"/>
            <a:ext cx="277017" cy="47625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Text Box 66">
            <a:extLst>
              <a:ext uri="{FF2B5EF4-FFF2-40B4-BE49-F238E27FC236}">
                <a16:creationId xmlns:a16="http://schemas.microsoft.com/office/drawing/2014/main" id="{ABC1A7B6-67E6-C147-A8A6-7E2EEC704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3412" y="2354263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(8)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ext Box 1"/>
          <p:cNvSpPr txBox="1">
            <a:spLocks noChangeArrowheads="1"/>
          </p:cNvSpPr>
          <p:nvPr/>
        </p:nvSpPr>
        <p:spPr bwMode="auto">
          <a:xfrm>
            <a:off x="1870075" y="4452938"/>
            <a:ext cx="698500" cy="784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pPr>
              <a:lnSpc>
                <a:spcPct val="111000"/>
              </a:lnSpc>
            </a:pPr>
            <a:r>
              <a:rPr lang="fr-FR" sz="2800" b="1" i="1">
                <a:solidFill>
                  <a:srgbClr val="E6E6FF"/>
                </a:solidFill>
                <a:latin typeface="Meiryo UI" charset="0"/>
              </a:rPr>
              <a:t> </a:t>
            </a:r>
            <a:br>
              <a:rPr lang="fr-FR" sz="2800" b="1" i="1">
                <a:solidFill>
                  <a:srgbClr val="E6E6FF"/>
                </a:solidFill>
                <a:latin typeface="Meiryo UI" charset="0"/>
              </a:rPr>
            </a:br>
            <a:r>
              <a:rPr lang="fr-FR" sz="1500" b="1" i="1">
                <a:solidFill>
                  <a:srgbClr val="E6E6FF"/>
                </a:solidFill>
                <a:latin typeface="Meiryo UI" charset="0"/>
              </a:rPr>
              <a:t>2015</a:t>
            </a:r>
          </a:p>
        </p:txBody>
      </p:sp>
      <p:grpSp>
        <p:nvGrpSpPr>
          <p:cNvPr id="2" name="Grouper 1"/>
          <p:cNvGrpSpPr/>
          <p:nvPr/>
        </p:nvGrpSpPr>
        <p:grpSpPr>
          <a:xfrm>
            <a:off x="131763" y="261938"/>
            <a:ext cx="4310062" cy="2119312"/>
            <a:chOff x="131763" y="261938"/>
            <a:chExt cx="4310062" cy="2119312"/>
          </a:xfrm>
        </p:grpSpPr>
        <p:pic>
          <p:nvPicPr>
            <p:cNvPr id="512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200" y="261938"/>
              <a:ext cx="4238625" cy="21193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xmlns="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</p:pic>
        <p:pic>
          <p:nvPicPr>
            <p:cNvPr id="5123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050" y="1203325"/>
              <a:ext cx="1106488" cy="1106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xmlns="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</p:pic>
        <p:sp>
          <p:nvSpPr>
            <p:cNvPr id="5124" name="Text Box 4"/>
            <p:cNvSpPr txBox="1">
              <a:spLocks noChangeArrowheads="1"/>
            </p:cNvSpPr>
            <p:nvPr/>
          </p:nvSpPr>
          <p:spPr bwMode="auto">
            <a:xfrm>
              <a:off x="131763" y="261938"/>
              <a:ext cx="1508125" cy="868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1pPr>
              <a:lvl2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2pPr>
              <a:lvl3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3pPr>
              <a:lvl4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4pPr>
              <a:lvl5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5pPr>
              <a:lvl6pPr marL="25146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6pPr>
              <a:lvl7pPr marL="29718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7pPr>
              <a:lvl8pPr marL="34290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8pPr>
              <a:lvl9pPr marL="38862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9pPr>
            </a:lstStyle>
            <a:p>
              <a:pPr>
                <a:lnSpc>
                  <a:spcPct val="111000"/>
                </a:lnSpc>
              </a:pPr>
              <a:r>
                <a:rPr lang="fr-FR" sz="3600" b="1" i="1" dirty="0">
                  <a:solidFill>
                    <a:srgbClr val="E6E6FF"/>
                  </a:solidFill>
                  <a:latin typeface="Meiryo UI" charset="0"/>
                </a:rPr>
                <a:t>Beijin</a:t>
              </a:r>
              <a:br>
                <a:rPr lang="fr-FR" sz="2800" b="1" i="1" dirty="0">
                  <a:solidFill>
                    <a:srgbClr val="E6E6FF"/>
                  </a:solidFill>
                  <a:latin typeface="Meiryo UI" charset="0"/>
                </a:rPr>
              </a:br>
              <a:r>
                <a:rPr lang="fr-FR" sz="1500" b="1" i="1" dirty="0">
                  <a:solidFill>
                    <a:srgbClr val="E6E6FF"/>
                  </a:solidFill>
                  <a:latin typeface="Meiryo UI" charset="0"/>
                </a:rPr>
                <a:t> 2027</a:t>
              </a:r>
            </a:p>
          </p:txBody>
        </p:sp>
        <p:sp>
          <p:nvSpPr>
            <p:cNvPr id="5125" name="Text Box 5"/>
            <p:cNvSpPr txBox="1">
              <a:spLocks noChangeArrowheads="1"/>
            </p:cNvSpPr>
            <p:nvPr/>
          </p:nvSpPr>
          <p:spPr bwMode="auto">
            <a:xfrm>
              <a:off x="2236788" y="304800"/>
              <a:ext cx="2141537" cy="54768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>
                  <a:solidFill>
                    <a:srgbClr val="FFFFFF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lIns="90000" tIns="52056" rIns="90000" bIns="45000"/>
            <a:lstStyle>
              <a:lvl1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1pPr>
              <a:lvl2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2pPr>
              <a:lvl3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3pPr>
              <a:lvl4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4pPr>
              <a:lvl5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5pPr>
              <a:lvl6pPr marL="25146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6pPr>
              <a:lvl7pPr marL="29718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7pPr>
              <a:lvl8pPr marL="34290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8pPr>
              <a:lvl9pPr marL="38862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9pPr>
            </a:lstStyle>
            <a:p>
              <a:r>
                <a:rPr lang="fr-FR" sz="800" dirty="0"/>
                <a:t>VIRGINIE-MARIS-P283728746----------------</a:t>
              </a:r>
            </a:p>
            <a:p>
              <a:r>
                <a:rPr lang="fr-FR" sz="800" dirty="0"/>
                <a:t>TRIPLEJUMP-B12---------------------------------------</a:t>
              </a:r>
            </a:p>
            <a:p>
              <a:r>
                <a:rPr lang="fr-FR" sz="800" dirty="0"/>
                <a:t>2027-09-12---11:00-18:00-----------------------</a:t>
              </a:r>
            </a:p>
            <a:p>
              <a:r>
                <a:rPr lang="fr-FR" sz="800" dirty="0"/>
                <a:t>WEST-F23------</a:t>
              </a:r>
            </a:p>
          </p:txBody>
        </p:sp>
      </p:grpSp>
      <p:sp>
        <p:nvSpPr>
          <p:cNvPr id="5126" name="Text Box 6"/>
          <p:cNvSpPr txBox="1">
            <a:spLocks noChangeArrowheads="1"/>
          </p:cNvSpPr>
          <p:nvPr/>
        </p:nvSpPr>
        <p:spPr bwMode="auto">
          <a:xfrm>
            <a:off x="1639888" y="2106613"/>
            <a:ext cx="1698625" cy="347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9112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600"/>
              <a:t>879277246472</a:t>
            </a:r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187325" y="2803525"/>
            <a:ext cx="4043363" cy="1693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&lt;sales transaction="8JH8HHDNKHJA7887787"  items="145" date="20270912"&gt;</a:t>
            </a:r>
          </a:p>
          <a:p>
            <a:r>
              <a:rPr lang="fr-FR" sz="800" dirty="0"/>
              <a:t>  &lt;sale&gt;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firstName</a:t>
            </a:r>
            <a:r>
              <a:rPr lang="fr-FR" sz="800" dirty="0"/>
              <a:t>&gt;Virginie&lt;/</a:t>
            </a:r>
            <a:r>
              <a:rPr lang="fr-FR" sz="800" dirty="0" err="1"/>
              <a:t>firstName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lastName</a:t>
            </a:r>
            <a:r>
              <a:rPr lang="fr-FR" sz="800" dirty="0"/>
              <a:t>&gt;Maris&lt;/</a:t>
            </a:r>
            <a:r>
              <a:rPr lang="fr-FR" sz="800" dirty="0" err="1"/>
              <a:t>lastName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nationalId</a:t>
            </a:r>
            <a:r>
              <a:rPr lang="fr-FR" sz="800" dirty="0"/>
              <a:t>&gt;P283728746&lt;/</a:t>
            </a:r>
            <a:r>
              <a:rPr lang="fr-FR" sz="800" dirty="0" err="1"/>
              <a:t>nationalId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&lt;tickets type='internet' </a:t>
            </a:r>
            <a:r>
              <a:rPr lang="fr-FR" sz="800" dirty="0" err="1"/>
              <a:t>vendor</a:t>
            </a:r>
            <a:r>
              <a:rPr lang="fr-FR" sz="800" dirty="0"/>
              <a:t>='ticket4all.com' </a:t>
            </a:r>
            <a:r>
              <a:rPr lang="fr-FR" sz="800" dirty="0" err="1"/>
              <a:t>vendorid</a:t>
            </a:r>
            <a:r>
              <a:rPr lang="fr-FR" sz="800" dirty="0"/>
              <a:t>='4528'&gt;</a:t>
            </a:r>
          </a:p>
          <a:p>
            <a:r>
              <a:rPr lang="fr-FR" sz="800" dirty="0"/>
              <a:t>        &lt;ticket id='879277246472''&gt;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product</a:t>
            </a:r>
            <a:r>
              <a:rPr lang="fr-FR" sz="800" dirty="0"/>
              <a:t>&gt;</a:t>
            </a:r>
            <a:r>
              <a:rPr lang="fr-FR" sz="800" dirty="0" err="1"/>
              <a:t>TripleJump</a:t>
            </a:r>
            <a:r>
              <a:rPr lang="fr-FR" sz="800" dirty="0"/>
              <a:t> B12&lt;/</a:t>
            </a:r>
            <a:r>
              <a:rPr lang="fr-FR" sz="800" dirty="0" err="1"/>
              <a:t>product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period</a:t>
            </a:r>
            <a:r>
              <a:rPr lang="fr-FR" sz="800" dirty="0"/>
              <a:t> start=‘20270812T1100-0430' end='20270812T1800-0430/&gt;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qrcode</a:t>
            </a:r>
            <a:r>
              <a:rPr lang="fr-FR" sz="800" dirty="0"/>
              <a:t>&gt;UDH2846DHSQJ3JF ... GS73Z84DFHDFGSHSDG3657D&lt;/</a:t>
            </a:r>
            <a:r>
              <a:rPr lang="fr-FR" sz="800" dirty="0" err="1"/>
              <a:t>qrcode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price</a:t>
            </a:r>
            <a:r>
              <a:rPr lang="fr-FR" sz="800" dirty="0"/>
              <a:t> </a:t>
            </a:r>
            <a:r>
              <a:rPr lang="fr-FR" sz="800" dirty="0" err="1"/>
              <a:t>amount</a:t>
            </a:r>
            <a:r>
              <a:rPr lang="fr-FR" sz="800" dirty="0"/>
              <a:t>= »88" money="EUR"/&gt;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seat</a:t>
            </a:r>
            <a:r>
              <a:rPr lang="fr-FR" sz="800" dirty="0"/>
              <a:t>&gt;T23&lt;/</a:t>
            </a:r>
            <a:r>
              <a:rPr lang="fr-FR" sz="800" dirty="0" err="1"/>
              <a:t>seat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...</a:t>
            </a:r>
          </a:p>
          <a:p>
            <a:r>
              <a:rPr lang="fr-FR" sz="800" dirty="0"/>
              <a:t>  ...     </a:t>
            </a:r>
          </a:p>
        </p:txBody>
      </p:sp>
      <p:pic>
        <p:nvPicPr>
          <p:cNvPr id="5128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75" y="114300"/>
            <a:ext cx="1771650" cy="238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5129" name="Text Box 9"/>
          <p:cNvSpPr txBox="1">
            <a:spLocks noChangeArrowheads="1"/>
          </p:cNvSpPr>
          <p:nvPr/>
        </p:nvSpPr>
        <p:spPr bwMode="auto">
          <a:xfrm>
            <a:off x="4830763" y="2622550"/>
            <a:ext cx="5408612" cy="603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http://</a:t>
            </a:r>
            <a:r>
              <a:rPr lang="fr-FR" sz="1200" dirty="0" err="1"/>
              <a:t>www.archiexpo.com</a:t>
            </a:r>
            <a:r>
              <a:rPr lang="fr-FR" sz="1200" dirty="0"/>
              <a:t>/</a:t>
            </a:r>
            <a:r>
              <a:rPr lang="fr-FR" sz="1200" dirty="0" err="1"/>
              <a:t>prod</a:t>
            </a:r>
            <a:r>
              <a:rPr lang="fr-FR" sz="1200" dirty="0"/>
              <a:t>/</a:t>
            </a:r>
            <a:r>
              <a:rPr lang="fr-FR" sz="1200" dirty="0" err="1"/>
              <a:t>alluser</a:t>
            </a:r>
            <a:r>
              <a:rPr lang="fr-FR" sz="1200" dirty="0"/>
              <a:t>-industrie/sliding-doors-commercial-buildings-security-automatic-52110-624140.html#product-item_142100</a:t>
            </a:r>
          </a:p>
        </p:txBody>
      </p:sp>
      <p:pic>
        <p:nvPicPr>
          <p:cNvPr id="5130" name="Picture 10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14" t="4515" r="7593" b="32079"/>
          <a:stretch>
            <a:fillRect/>
          </a:stretch>
        </p:blipFill>
        <p:spPr bwMode="auto">
          <a:xfrm>
            <a:off x="4924425" y="3162300"/>
            <a:ext cx="4038600" cy="2228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blipFill dpi="0" rotWithShape="0">
                  <a:blip/>
                  <a:srcRect l="14014" t="4515" r="7593" b="32079"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5131" name="Text Box 11"/>
          <p:cNvSpPr txBox="1">
            <a:spLocks noChangeArrowheads="1"/>
          </p:cNvSpPr>
          <p:nvPr/>
        </p:nvSpPr>
        <p:spPr bwMode="auto">
          <a:xfrm>
            <a:off x="2943225" y="5703888"/>
            <a:ext cx="6913563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60876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/>
              <a:t>http://www.tbcconsoles.com/gallery.aspx?galleryid=3#.VLAvlytjV8E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yberBatiment-3">
  <a:themeElements>
    <a:clrScheme name="Thème Offic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Thème Office">
      <a:majorFont>
        <a:latin typeface="Arial"/>
        <a:ea typeface="ＭＳ Ｐゴシック"/>
        <a:cs typeface="Microsoft YaHei"/>
      </a:majorFont>
      <a:minorFont>
        <a:latin typeface="Arial"/>
        <a:ea typeface="ＭＳ Ｐゴシック"/>
        <a:cs typeface="Microsoft YaHei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Microsoft YaHei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Microsoft YaHei" charset="0"/>
          </a:defRPr>
        </a:defPPr>
      </a:lstStyle>
    </a:lnDef>
  </a:objectDefaults>
  <a:extraClrSchemeLst>
    <a:extraClrScheme>
      <a:clrScheme name="Thème 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hème 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CyberBatiment-3.pot</Template>
  <TotalTime>4652</TotalTime>
  <Words>400</Words>
  <Application>Microsoft Macintosh PowerPoint</Application>
  <PresentationFormat>Personnalisé</PresentationFormat>
  <Paragraphs>158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Meiryo UI</vt:lpstr>
      <vt:lpstr>Arial</vt:lpstr>
      <vt:lpstr>Times New Roman</vt:lpstr>
      <vt:lpstr>CyberBatiment-3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Jean-Marie Favre</dc:creator>
  <cp:keywords/>
  <dc:description/>
  <cp:lastModifiedBy>Cyrille Desmoulins</cp:lastModifiedBy>
  <cp:revision>41</cp:revision>
  <cp:lastPrinted>2019-05-04T14:28:25Z</cp:lastPrinted>
  <dcterms:created xsi:type="dcterms:W3CDTF">2015-01-04T11:56:58Z</dcterms:created>
  <dcterms:modified xsi:type="dcterms:W3CDTF">2026-01-14T16:33:13Z</dcterms:modified>
</cp:coreProperties>
</file>